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34"/>
  </p:notesMasterIdLst>
  <p:sldIdLst>
    <p:sldId id="285" r:id="rId5"/>
    <p:sldId id="286" r:id="rId6"/>
    <p:sldId id="257" r:id="rId7"/>
    <p:sldId id="259" r:id="rId8"/>
    <p:sldId id="260" r:id="rId9"/>
    <p:sldId id="261" r:id="rId10"/>
    <p:sldId id="262" r:id="rId11"/>
    <p:sldId id="263" r:id="rId12"/>
    <p:sldId id="280" r:id="rId13"/>
    <p:sldId id="281" r:id="rId14"/>
    <p:sldId id="282" r:id="rId15"/>
    <p:sldId id="283" r:id="rId16"/>
    <p:sldId id="284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hdZ4ehe4K/ph+kfujZB7igVLqN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8E8256-D1AD-4884-8A2F-C1E98EAA425A}">
  <a:tblStyle styleId="{CA8E8256-D1AD-4884-8A2F-C1E98EAA42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59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8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61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2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: Thomas H Cormen </a:t>
            </a:r>
            <a:endParaRPr/>
          </a:p>
        </p:txBody>
      </p:sp>
      <p:sp>
        <p:nvSpPr>
          <p:cNvPr id="344" name="Google Shape;3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0873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405" name="Google Shape;4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6" name="Google Shape;4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421" name="Google Shape;4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2" name="Google Shape;4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429" name="Google Shape;4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0" name="Google Shape;4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438" name="Google Shape;4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9" name="Google Shape;4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446" name="Google Shape;4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7" name="Google Shape;4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454" name="Google Shape;4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5" name="Google Shape;4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9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462" name="Google Shape;4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3" name="Google Shape;4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  <p:sp>
        <p:nvSpPr>
          <p:cNvPr id="471" name="Google Shape;4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2" name="Google Shape;4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1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482" name="Google Shape;4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3" name="Google Shape;48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2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491" name="Google Shape;4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2" name="Google Shape;4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3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499" name="Google Shape;4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0" name="Google Shape;5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529" name="Google Shape;5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0" name="Google Shape;53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548" name="Google Shape;5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9" name="Google Shape;5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6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  <p:sp>
        <p:nvSpPr>
          <p:cNvPr id="557" name="Google Shape;5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58" name="Google Shape;55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7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565" name="Google Shape;5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6" name="Google Shape;5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8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  <p:sp>
        <p:nvSpPr>
          <p:cNvPr id="573" name="Google Shape;5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4" name="Google Shape;57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9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  <p:sp>
        <p:nvSpPr>
          <p:cNvPr id="581" name="Google Shape;5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2" name="Google Shape;58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0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/>
          </a:p>
        </p:txBody>
      </p:sp>
      <p:sp>
        <p:nvSpPr>
          <p:cNvPr id="589" name="Google Shape;5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0" name="Google Shape;59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1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/>
          </a:p>
        </p:txBody>
      </p:sp>
      <p:sp>
        <p:nvSpPr>
          <p:cNvPr id="597" name="Google Shape;59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8" name="Google Shape;59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2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/>
          </a:p>
        </p:txBody>
      </p:sp>
      <p:sp>
        <p:nvSpPr>
          <p:cNvPr id="606" name="Google Shape;6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7" name="Google Shape;60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3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/>
          </a:p>
        </p:txBody>
      </p:sp>
      <p:sp>
        <p:nvSpPr>
          <p:cNvPr id="614" name="Google Shape;6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5" name="Google Shape;61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/>
          </a:p>
        </p:txBody>
      </p:sp>
      <p:sp>
        <p:nvSpPr>
          <p:cNvPr id="621" name="Google Shape;6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22" name="Google Shape;62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1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1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4"/>
          <p:cNvSpPr txBox="1">
            <a:spLocks noGrp="1"/>
          </p:cNvSpPr>
          <p:nvPr>
            <p:ph type="title"/>
          </p:nvPr>
        </p:nvSpPr>
        <p:spPr>
          <a:xfrm rot="5400000">
            <a:off x="4942682" y="2829718"/>
            <a:ext cx="5429250" cy="205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4"/>
          <p:cNvSpPr txBox="1">
            <a:spLocks noGrp="1"/>
          </p:cNvSpPr>
          <p:nvPr>
            <p:ph type="body" idx="1"/>
          </p:nvPr>
        </p:nvSpPr>
        <p:spPr>
          <a:xfrm rot="5400000">
            <a:off x="752475" y="847725"/>
            <a:ext cx="54292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54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5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5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5"/>
          <p:cNvSpPr txBox="1">
            <a:spLocks noGrp="1"/>
          </p:cNvSpPr>
          <p:nvPr>
            <p:ph type="body" idx="1"/>
          </p:nvPr>
        </p:nvSpPr>
        <p:spPr>
          <a:xfrm rot="5400000">
            <a:off x="2409824" y="296862"/>
            <a:ext cx="4322762" cy="82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55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6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6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0" name="Google Shape;120;p56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1" name="Google Shape;121;p56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56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57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6" name="Google Shape;126;p57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7" name="Google Shape;127;p57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7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8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58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8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9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9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6" name="Google Shape;136;p59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5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5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59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9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0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60"/>
          <p:cNvSpPr txBox="1">
            <a:spLocks noGrp="1"/>
          </p:cNvSpPr>
          <p:nvPr>
            <p:ph type="body" idx="1"/>
          </p:nvPr>
        </p:nvSpPr>
        <p:spPr>
          <a:xfrm>
            <a:off x="457200" y="2249488"/>
            <a:ext cx="4037013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60"/>
          <p:cNvSpPr txBox="1">
            <a:spLocks noGrp="1"/>
          </p:cNvSpPr>
          <p:nvPr>
            <p:ph type="body" idx="2"/>
          </p:nvPr>
        </p:nvSpPr>
        <p:spPr>
          <a:xfrm>
            <a:off x="4646613" y="2249488"/>
            <a:ext cx="4038600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60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0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1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61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0" name="Google Shape;150;p61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61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3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6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0" name="Google Shape;160;p63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6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75438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marL="685800" lvl="1" indent="-257175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marL="1028700" lvl="2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marL="1371600" lvl="3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marL="1714500" lvl="4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marL="2057400" lvl="5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marL="2400300" lvl="6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marL="2743200" lvl="7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marL="3086100" lvl="8" indent="-257175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ftr" idx="11"/>
          </p:nvPr>
        </p:nvSpPr>
        <p:spPr>
          <a:xfrm>
            <a:off x="7262735" y="303384"/>
            <a:ext cx="1668756" cy="49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825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99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3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5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4"/>
          <p:cNvSpPr txBox="1">
            <a:spLocks noGrp="1"/>
          </p:cNvSpPr>
          <p:nvPr>
            <p:ph type="title"/>
          </p:nvPr>
        </p:nvSpPr>
        <p:spPr>
          <a:xfrm rot="5400000">
            <a:off x="4942682" y="2829718"/>
            <a:ext cx="5429250" cy="205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74"/>
          <p:cNvSpPr txBox="1">
            <a:spLocks noGrp="1"/>
          </p:cNvSpPr>
          <p:nvPr>
            <p:ph type="body" idx="1"/>
          </p:nvPr>
        </p:nvSpPr>
        <p:spPr>
          <a:xfrm rot="5400000">
            <a:off x="752475" y="847725"/>
            <a:ext cx="54292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74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7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5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75"/>
          <p:cNvSpPr txBox="1">
            <a:spLocks noGrp="1"/>
          </p:cNvSpPr>
          <p:nvPr>
            <p:ph type="body" idx="1"/>
          </p:nvPr>
        </p:nvSpPr>
        <p:spPr>
          <a:xfrm rot="5400000">
            <a:off x="2409824" y="296862"/>
            <a:ext cx="4322762" cy="82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75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7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6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76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96" name="Google Shape;196;p76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7" name="Google Shape;197;p76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76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77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2" name="Google Shape;202;p77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3" name="Google Shape;203;p77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77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8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78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78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9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79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2" name="Google Shape;212;p79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7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4" name="Google Shape;214;p7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79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79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0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80"/>
          <p:cNvSpPr txBox="1">
            <a:spLocks noGrp="1"/>
          </p:cNvSpPr>
          <p:nvPr>
            <p:ph type="body" idx="1"/>
          </p:nvPr>
        </p:nvSpPr>
        <p:spPr>
          <a:xfrm>
            <a:off x="457200" y="2249488"/>
            <a:ext cx="4037013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80"/>
          <p:cNvSpPr txBox="1">
            <a:spLocks noGrp="1"/>
          </p:cNvSpPr>
          <p:nvPr>
            <p:ph type="body" idx="2"/>
          </p:nvPr>
        </p:nvSpPr>
        <p:spPr>
          <a:xfrm>
            <a:off x="4646613" y="2249488"/>
            <a:ext cx="4038600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80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80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1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81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6" name="Google Shape;226;p81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81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82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8012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82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82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3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8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6" name="Google Shape;236;p83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8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5"/>
          <p:cNvSpPr txBox="1">
            <a:spLocks noGrp="1"/>
          </p:cNvSpPr>
          <p:nvPr>
            <p:ph type="title"/>
          </p:nvPr>
        </p:nvSpPr>
        <p:spPr>
          <a:xfrm rot="5400000">
            <a:off x="4942682" y="2829718"/>
            <a:ext cx="5429250" cy="205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85"/>
          <p:cNvSpPr txBox="1">
            <a:spLocks noGrp="1"/>
          </p:cNvSpPr>
          <p:nvPr>
            <p:ph type="body" idx="1"/>
          </p:nvPr>
        </p:nvSpPr>
        <p:spPr>
          <a:xfrm rot="5400000">
            <a:off x="752475" y="847725"/>
            <a:ext cx="54292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85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8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6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86"/>
          <p:cNvSpPr txBox="1">
            <a:spLocks noGrp="1"/>
          </p:cNvSpPr>
          <p:nvPr>
            <p:ph type="body" idx="1"/>
          </p:nvPr>
        </p:nvSpPr>
        <p:spPr>
          <a:xfrm rot="5400000">
            <a:off x="2409824" y="296862"/>
            <a:ext cx="4322762" cy="82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86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86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87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70" name="Google Shape;270;p87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1" name="Google Shape;271;p87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87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88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76" name="Google Shape;276;p88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7" name="Google Shape;277;p88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88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9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89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0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90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90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1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91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9" name="Google Shape;289;p91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91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91" name="Google Shape;291;p91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91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91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2"/>
          <p:cNvSpPr txBox="1">
            <a:spLocks noGrp="1"/>
          </p:cNvSpPr>
          <p:nvPr>
            <p:ph type="body" idx="1"/>
          </p:nvPr>
        </p:nvSpPr>
        <p:spPr>
          <a:xfrm>
            <a:off x="457200" y="2249488"/>
            <a:ext cx="4037013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92"/>
          <p:cNvSpPr txBox="1">
            <a:spLocks noGrp="1"/>
          </p:cNvSpPr>
          <p:nvPr>
            <p:ph type="body" idx="2"/>
          </p:nvPr>
        </p:nvSpPr>
        <p:spPr>
          <a:xfrm>
            <a:off x="4646613" y="2249488"/>
            <a:ext cx="4038600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92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92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3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93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3" name="Google Shape;303;p93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9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4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94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8012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94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9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5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9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3" name="Google Shape;313;p95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9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7"/>
          <p:cNvSpPr txBox="1">
            <a:spLocks noGrp="1"/>
          </p:cNvSpPr>
          <p:nvPr>
            <p:ph type="title"/>
          </p:nvPr>
        </p:nvSpPr>
        <p:spPr>
          <a:xfrm rot="5400000">
            <a:off x="4942682" y="2829718"/>
            <a:ext cx="5429250" cy="205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97"/>
          <p:cNvSpPr txBox="1">
            <a:spLocks noGrp="1"/>
          </p:cNvSpPr>
          <p:nvPr>
            <p:ph type="body" idx="1"/>
          </p:nvPr>
        </p:nvSpPr>
        <p:spPr>
          <a:xfrm rot="5400000">
            <a:off x="752475" y="847725"/>
            <a:ext cx="54292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97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97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8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98"/>
          <p:cNvSpPr txBox="1">
            <a:spLocks noGrp="1"/>
          </p:cNvSpPr>
          <p:nvPr>
            <p:ph type="body" idx="1"/>
          </p:nvPr>
        </p:nvSpPr>
        <p:spPr>
          <a:xfrm rot="5400000">
            <a:off x="2409824" y="296862"/>
            <a:ext cx="4322762" cy="82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98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98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99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347" name="Google Shape;347;p99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8" name="Google Shape;348;p99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99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00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53" name="Google Shape;353;p100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4" name="Google Shape;354;p100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0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1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01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102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102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3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03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6" name="Google Shape;366;p103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10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8" name="Google Shape;368;p10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103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10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4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104"/>
          <p:cNvSpPr txBox="1">
            <a:spLocks noGrp="1"/>
          </p:cNvSpPr>
          <p:nvPr>
            <p:ph type="body" idx="1"/>
          </p:nvPr>
        </p:nvSpPr>
        <p:spPr>
          <a:xfrm>
            <a:off x="457200" y="2249488"/>
            <a:ext cx="4037013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104"/>
          <p:cNvSpPr txBox="1">
            <a:spLocks noGrp="1"/>
          </p:cNvSpPr>
          <p:nvPr>
            <p:ph type="body" idx="2"/>
          </p:nvPr>
        </p:nvSpPr>
        <p:spPr>
          <a:xfrm>
            <a:off x="4646613" y="2249488"/>
            <a:ext cx="4038600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104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0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5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05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0" name="Google Shape;380;p105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0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6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8012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106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06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7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0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0" name="Google Shape;390;p107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07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0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rgbClr val="438086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0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rgbClr val="4244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0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0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0"/>
          <p:cNvSpPr txBox="1"/>
          <p:nvPr/>
        </p:nvSpPr>
        <p:spPr>
          <a:xfrm rot="10800000" flipH="1">
            <a:off x="5410200" y="438150"/>
            <a:ext cx="3733800" cy="180975"/>
          </a:xfrm>
          <a:prstGeom prst="rect">
            <a:avLst/>
          </a:prstGeom>
          <a:solidFill>
            <a:srgbClr val="438086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0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0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0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0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0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0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0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0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0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0" name="Google Shape;100;p50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8012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01" name="Google Shape;101;p50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50"/>
          <p:cNvSpPr txBox="1"/>
          <p:nvPr/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0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70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2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rgbClr val="438086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2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rgbClr val="4244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2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2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2"/>
          <p:cNvSpPr txBox="1"/>
          <p:nvPr/>
        </p:nvSpPr>
        <p:spPr>
          <a:xfrm rot="10800000" flipH="1">
            <a:off x="5410200" y="438150"/>
            <a:ext cx="3733800" cy="180975"/>
          </a:xfrm>
          <a:prstGeom prst="rect">
            <a:avLst/>
          </a:prstGeom>
          <a:solidFill>
            <a:srgbClr val="438086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2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2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2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2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2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2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2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2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7" name="Google Shape;177;p52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8012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78" name="Google Shape;178;p52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52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4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rgbClr val="438086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4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rgbClr val="4244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4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4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4"/>
          <p:cNvSpPr txBox="1"/>
          <p:nvPr/>
        </p:nvSpPr>
        <p:spPr>
          <a:xfrm rot="10800000" flipH="1">
            <a:off x="5410200" y="438150"/>
            <a:ext cx="3733800" cy="180975"/>
          </a:xfrm>
          <a:prstGeom prst="rect">
            <a:avLst/>
          </a:prstGeom>
          <a:solidFill>
            <a:srgbClr val="438086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4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4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4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4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4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4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4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4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4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3" name="Google Shape;253;p84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8012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54" name="Google Shape;254;p84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" name="Google Shape;255;p8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4"/>
          <p:cNvSpPr txBox="1"/>
          <p:nvPr/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6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rgbClr val="438086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6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rgbClr val="4244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6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6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rgbClr val="4380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6"/>
          <p:cNvSpPr txBox="1"/>
          <p:nvPr/>
        </p:nvSpPr>
        <p:spPr>
          <a:xfrm rot="10800000" flipH="1">
            <a:off x="5410200" y="438150"/>
            <a:ext cx="3733800" cy="180975"/>
          </a:xfrm>
          <a:prstGeom prst="rect">
            <a:avLst/>
          </a:prstGeom>
          <a:solidFill>
            <a:srgbClr val="438086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6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6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6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6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6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6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6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6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6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8012" cy="10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30" name="Google Shape;330;p96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8012" cy="432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331" name="Google Shape;331;p96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5675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96"/>
          <p:cNvSpPr txBox="1"/>
          <p:nvPr/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6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04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  <a:defRPr sz="24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#Slide%2014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#Slide%2020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 txBox="1">
            <a:spLocks noGrp="1"/>
          </p:cNvSpPr>
          <p:nvPr>
            <p:ph type="subTitle" idx="1"/>
          </p:nvPr>
        </p:nvSpPr>
        <p:spPr>
          <a:xfrm>
            <a:off x="1228724" y="4714875"/>
            <a:ext cx="6858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SzPts val="2000"/>
            </a:pPr>
            <a:r>
              <a:rPr lang="en-US" sz="1500" b="1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7" name="Google Shape;347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52" y="1028700"/>
            <a:ext cx="7645146" cy="15525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348" name="Google Shape;348;p52"/>
          <p:cNvSpPr/>
          <p:nvPr/>
        </p:nvSpPr>
        <p:spPr>
          <a:xfrm>
            <a:off x="501540" y="3140831"/>
            <a:ext cx="8312369" cy="101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2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CSE2PM09A / AID2PM07A	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</a:t>
            </a:r>
          </a:p>
          <a:p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796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61605"/>
            <a:ext cx="7543800" cy="627611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4: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241550"/>
            <a:ext cx="7543800" cy="356350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8-Queen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0/1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Knapsack Problem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Ref Book: Thomas Cormen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3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"/>
          <p:cNvSpPr txBox="1"/>
          <p:nvPr/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Basic Concepts</a:t>
            </a:r>
            <a:endParaRPr/>
          </a:p>
        </p:txBody>
      </p:sp>
      <p:sp>
        <p:nvSpPr>
          <p:cNvPr id="409" name="Google Shape;409;p2"/>
          <p:cNvSpPr txBox="1"/>
          <p:nvPr/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Live Node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 node which has been generated and all of whose children have not yet been generated is called a live node.</a:t>
            </a:r>
            <a:endParaRPr sz="28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E-node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live node whose children are currently being generated is called the E-node.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Dead Node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 generated node which is not to be expanded further or all of whose children have been generated is called a dead node.</a:t>
            </a:r>
            <a:endParaRPr sz="28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Bounding function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It is used to kill live nodes without generating all their children.</a:t>
            </a:r>
            <a:endParaRPr/>
          </a:p>
        </p:txBody>
      </p:sp>
      <p:sp>
        <p:nvSpPr>
          <p:cNvPr id="410" name="Google Shape;410;p2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"/>
          <p:cNvSpPr txBox="1"/>
          <p:nvPr/>
        </p:nvSpPr>
        <p:spPr>
          <a:xfrm>
            <a:off x="7543800" y="0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fld>
            <a:endParaRPr/>
          </a:p>
        </p:txBody>
      </p:sp>
      <p:sp>
        <p:nvSpPr>
          <p:cNvPr id="425" name="Google Shape;425;p4"/>
          <p:cNvSpPr txBox="1"/>
          <p:nvPr/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Backtracking Algorithm</a:t>
            </a:r>
            <a:endParaRPr/>
          </a:p>
        </p:txBody>
      </p:sp>
      <p:sp>
        <p:nvSpPr>
          <p:cNvPr id="426" name="Google Shape;426;p4"/>
          <p:cNvSpPr txBox="1"/>
          <p:nvPr/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1812" marR="0" lvl="0" indent="-5318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Based on depth-first recursive search</a:t>
            </a:r>
            <a:endParaRPr/>
          </a:p>
          <a:p>
            <a:pPr marL="531812" marR="0" lvl="0" indent="-53181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Approach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AutoNum type="arabicPeriod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Tests whether solution has been found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AutoNum type="arabicPeriod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If found solution, return it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AutoNum type="arabicPeriod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Else for each choice that can be made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3548A"/>
              </a:buClr>
              <a:buSzPts val="1800"/>
              <a:buFont typeface="Georgia"/>
              <a:buAutoNum type="alphaLcParenR"/>
            </a:pPr>
            <a:r>
              <a:rPr lang="en-US" sz="18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Make that choice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3548A"/>
              </a:buClr>
              <a:buSzPts val="1800"/>
              <a:buFont typeface="Georgia"/>
              <a:buAutoNum type="alphaLcParenR"/>
            </a:pPr>
            <a:r>
              <a:rPr lang="en-US" sz="18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Recur</a:t>
            </a:r>
            <a:endParaRPr/>
          </a:p>
          <a:p>
            <a:pPr marL="1371600" marR="0" lvl="2" indent="-457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3548A"/>
              </a:buClr>
              <a:buSzPts val="1800"/>
              <a:buFont typeface="Georgia"/>
              <a:buAutoNum type="alphaLcParenR"/>
            </a:pPr>
            <a:r>
              <a:rPr lang="en-US" sz="18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If recursion returns a solution, return it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AutoNum type="arabicPeriod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If no choices remain, return failure</a:t>
            </a:r>
            <a:endParaRPr/>
          </a:p>
          <a:p>
            <a:pPr marL="531812" marR="0" lvl="0" indent="-53181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Some times called “search tree”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"/>
          <p:cNvSpPr txBox="1"/>
          <p:nvPr/>
        </p:nvSpPr>
        <p:spPr>
          <a:xfrm>
            <a:off x="457200" y="2286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Recursive backtracking algorithm</a:t>
            </a:r>
            <a:endParaRPr/>
          </a:p>
        </p:txBody>
      </p:sp>
      <p:sp>
        <p:nvSpPr>
          <p:cNvPr id="433" name="Google Shape;433;p5"/>
          <p:cNvSpPr txBox="1"/>
          <p:nvPr/>
        </p:nvSpPr>
        <p:spPr>
          <a:xfrm>
            <a:off x="457200" y="1219200"/>
            <a:ext cx="8229600" cy="527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2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 strike="noStrike" cap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Initially invoked by Backtrack(1)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T(x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,x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,…,x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): set of all possible values for 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i+1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 such that (x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,x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,…,x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,x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i+1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) is also a path to a problem state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i+1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(x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,x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,…,x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,x</a:t>
            </a:r>
            <a:r>
              <a:rPr lang="en-US" sz="2400" b="0" i="0" u="none" baseline="-25000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i+1</a:t>
            </a:r>
            <a:r>
              <a:rPr lang="en-US" sz="2400" b="0" i="0" u="none">
                <a:solidFill>
                  <a:srgbClr val="53548A"/>
                </a:solidFill>
                <a:latin typeface="Georgia"/>
                <a:ea typeface="Georgia"/>
                <a:cs typeface="Georgia"/>
                <a:sym typeface="Georgia"/>
              </a:rPr>
              <a:t>): bounding function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200"/>
              <a:buFont typeface="Georgia"/>
              <a:buChar char="▫"/>
            </a:pPr>
            <a:r>
              <a:rPr lang="en-US" sz="22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If B</a:t>
            </a:r>
            <a:r>
              <a:rPr lang="en-US" sz="22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i+1</a:t>
            </a:r>
            <a:r>
              <a:rPr lang="en-US" sz="22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(x</a:t>
            </a:r>
            <a:r>
              <a:rPr lang="en-US" sz="22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lang="en-US" sz="22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,x</a:t>
            </a:r>
            <a:r>
              <a:rPr lang="en-US" sz="22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2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,…,x</a:t>
            </a:r>
            <a:r>
              <a:rPr lang="en-US" sz="22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2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,x</a:t>
            </a:r>
            <a:r>
              <a:rPr lang="en-US" sz="22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i+1</a:t>
            </a:r>
            <a:r>
              <a:rPr lang="en-US" sz="22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) is false, then the path cannot be extended to reach an answer node</a:t>
            </a:r>
            <a:endParaRPr/>
          </a:p>
        </p:txBody>
      </p:sp>
      <p:sp>
        <p:nvSpPr>
          <p:cNvPr id="434" name="Google Shape;434;p5"/>
          <p:cNvSpPr txBox="1"/>
          <p:nvPr/>
        </p:nvSpPr>
        <p:spPr>
          <a:xfrm>
            <a:off x="533400" y="3505200"/>
            <a:ext cx="82296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1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void Backtrack( int k )</a:t>
            </a:r>
            <a:endParaRPr/>
          </a:p>
          <a:p>
            <a:pPr marL="0" marR="0" lvl="0" indent="0" algn="l" rtl="0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// This is a schema that describes the backtracking process using</a:t>
            </a:r>
            <a:endParaRPr/>
          </a:p>
          <a:p>
            <a:pPr marL="0" marR="0" lvl="0" indent="0" algn="l" rtl="0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//recursion. On entering, the first k-1 values x[1], x[2], …., x[k-1] of the </a:t>
            </a:r>
            <a:endParaRPr/>
          </a:p>
          <a:p>
            <a:pPr marL="0" marR="0" lvl="0" indent="0" algn="l" rtl="0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//solution vector x[1:n] have been assigned. x[] and n are global.</a:t>
            </a:r>
            <a:endParaRPr/>
          </a:p>
          <a:p>
            <a:pPr marL="0" marR="0" lvl="0" indent="0" algn="l" rtl="0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{</a:t>
            </a:r>
            <a:endParaRPr/>
          </a:p>
          <a:p>
            <a:pPr marL="0" marR="0" lvl="0" indent="0" algn="l" rtl="0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for (each x[k] such that x[k] </a:t>
            </a:r>
            <a:r>
              <a:rPr lang="en-US" sz="2000" b="0" i="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T(x[1], …, x[k-1]) {</a:t>
            </a:r>
            <a:endParaRPr/>
          </a:p>
          <a:p>
            <a:pPr marL="0" marR="0" lvl="0" indent="0" algn="l" rtl="0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if (B</a:t>
            </a:r>
            <a:r>
              <a:rPr lang="en-US" sz="2000" b="0" i="0" u="none" baseline="-25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k</a:t>
            </a: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(x[1], x[2], …, x[k])) {</a:t>
            </a:r>
            <a:endParaRPr/>
          </a:p>
          <a:p>
            <a:pPr marL="0" marR="0" lvl="0" indent="0" algn="l" rtl="0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if (x[1], x[2], …, x[k] is a path to an answer node)</a:t>
            </a:r>
            <a:endParaRPr/>
          </a:p>
          <a:p>
            <a:pPr marL="0" marR="0" lvl="0" indent="0" algn="l" rtl="0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      output x[1:k];</a:t>
            </a:r>
            <a:endParaRPr/>
          </a:p>
          <a:p>
            <a:pPr marL="0" marR="0" lvl="0" indent="0" algn="l" rtl="0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if (k &lt; n) Backtrack(k+1);</a:t>
            </a:r>
            <a:endParaRPr/>
          </a:p>
          <a:p>
            <a:pPr marL="0" marR="0" lvl="0" indent="0" algn="l" rtl="0">
              <a:lnSpc>
                <a:spcPct val="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}</a:t>
            </a:r>
            <a:endParaRPr/>
          </a:p>
          <a:p>
            <a:pPr marL="0" marR="0" lvl="0" indent="0" algn="l" rtl="0">
              <a:lnSpc>
                <a:spcPct val="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}  </a:t>
            </a:r>
            <a:endParaRPr/>
          </a:p>
          <a:p>
            <a:pPr marL="0" marR="0" lvl="0" indent="0" algn="l" rtl="0">
              <a:lnSpc>
                <a:spcPct val="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/>
          </a:p>
        </p:txBody>
      </p:sp>
      <p:sp>
        <p:nvSpPr>
          <p:cNvPr id="435" name="Google Shape;435;p5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"/>
          <p:cNvSpPr txBox="1"/>
          <p:nvPr/>
        </p:nvSpPr>
        <p:spPr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backtracking method</a:t>
            </a:r>
            <a:endParaRPr/>
          </a:p>
        </p:txBody>
      </p:sp>
      <p:sp>
        <p:nvSpPr>
          <p:cNvPr id="442" name="Google Shape;442;p6"/>
          <p:cNvSpPr txBox="1"/>
          <p:nvPr/>
        </p:nvSpPr>
        <p:spPr>
          <a:xfrm>
            <a:off x="152400" y="15240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400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1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void IBacktrack( int n )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// This is a schema that describes the backtracking 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//process. All solutions are generated in x[1:n] and printed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// as soon as they are determined.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{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int k=1;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while (k) {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if (there remains an untried x[k] such that x[k] is in 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        T( x[1], x[2], …, x[k-1] ) and 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B</a:t>
            </a:r>
            <a:r>
              <a:rPr lang="en-US" sz="2400" b="0" i="0" u="none" baseline="-25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k</a:t>
            </a: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(x[1], …,x[k]) is true) {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     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  if ( x[1], …, x[k] is a path to an answer node ) 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	output x[1:k];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                     k++; // Consider the next set.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}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else k--; // Backtrack to the previous set.</a:t>
            </a:r>
            <a:endParaRPr/>
          </a:p>
          <a:p>
            <a:pPr marL="365125" marR="0" lvl="0" indent="-254000" algn="l" rtl="0">
              <a:lnSpc>
                <a:spcPct val="2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}  </a:t>
            </a:r>
            <a:endParaRPr/>
          </a:p>
          <a:p>
            <a:pPr marL="365125" marR="0" lvl="0" indent="-254000" algn="l" rtl="0">
              <a:lnSpc>
                <a:spcPct val="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/>
          </a:p>
        </p:txBody>
      </p:sp>
      <p:sp>
        <p:nvSpPr>
          <p:cNvPr id="443" name="Google Shape;443;p6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</a:t>
            </a:fld>
            <a:endParaRPr/>
          </a:p>
        </p:txBody>
      </p:sp>
      <p:sp>
        <p:nvSpPr>
          <p:cNvPr id="450" name="Google Shape;450;p7"/>
          <p:cNvSpPr txBox="1"/>
          <p:nvPr/>
        </p:nvSpPr>
        <p:spPr>
          <a:xfrm>
            <a:off x="563562" y="361950"/>
            <a:ext cx="8158162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  The n-Queen problem</a:t>
            </a:r>
            <a:endParaRPr/>
          </a:p>
        </p:txBody>
      </p:sp>
      <p:sp>
        <p:nvSpPr>
          <p:cNvPr id="451" name="Google Shape;451;p7"/>
          <p:cNvSpPr txBox="1"/>
          <p:nvPr/>
        </p:nvSpPr>
        <p:spPr>
          <a:xfrm>
            <a:off x="563562" y="1758950"/>
            <a:ext cx="8016875" cy="444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Place </a:t>
            </a: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queens on an </a:t>
            </a: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by </a:t>
            </a: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chess board so that no two of them are on the same row, column, or diagonal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"/>
          <p:cNvSpPr txBox="1"/>
          <p:nvPr/>
        </p:nvSpPr>
        <p:spPr>
          <a:xfrm>
            <a:off x="7543800" y="0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fld>
            <a:endParaRPr/>
          </a:p>
        </p:txBody>
      </p:sp>
      <p:sp>
        <p:nvSpPr>
          <p:cNvPr id="458" name="Google Shape;458;p8"/>
          <p:cNvSpPr txBox="1"/>
          <p:nvPr/>
        </p:nvSpPr>
        <p:spPr>
          <a:xfrm>
            <a:off x="152400" y="533400"/>
            <a:ext cx="89916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State Space Tree of the Four-queens Problem</a:t>
            </a:r>
            <a:endParaRPr/>
          </a:p>
        </p:txBody>
      </p:sp>
      <p:pic>
        <p:nvPicPr>
          <p:cNvPr id="459" name="Google Shape;4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28800"/>
            <a:ext cx="73914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3868287" y="1257300"/>
            <a:ext cx="457200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01" y="5486400"/>
            <a:ext cx="33281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Tree organization of 4 queens solution space in DFS</a:t>
            </a:r>
          </a:p>
        </p:txBody>
      </p:sp>
      <p:cxnSp>
        <p:nvCxnSpPr>
          <p:cNvPr id="6" name="Straight Connector 5"/>
          <p:cNvCxnSpPr>
            <a:stCxn id="3" idx="3"/>
          </p:cNvCxnSpPr>
          <p:nvPr/>
        </p:nvCxnSpPr>
        <p:spPr>
          <a:xfrm flipH="1">
            <a:off x="2382387" y="1647544"/>
            <a:ext cx="1552856" cy="92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3" idx="4"/>
          </p:cNvCxnSpPr>
          <p:nvPr/>
        </p:nvCxnSpPr>
        <p:spPr>
          <a:xfrm>
            <a:off x="4096887" y="1714500"/>
            <a:ext cx="17913" cy="914400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314398" y="1592950"/>
            <a:ext cx="1485900" cy="12001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3" idx="6"/>
          </p:cNvCxnSpPr>
          <p:nvPr/>
        </p:nvCxnSpPr>
        <p:spPr>
          <a:xfrm>
            <a:off x="4325487" y="1485900"/>
            <a:ext cx="2589663" cy="9144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022194" y="2562367"/>
            <a:ext cx="397097" cy="3902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3873907" y="2628900"/>
            <a:ext cx="451580" cy="3902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7" name="Oval 16"/>
          <p:cNvSpPr/>
          <p:nvPr/>
        </p:nvSpPr>
        <p:spPr>
          <a:xfrm>
            <a:off x="5649863" y="2691808"/>
            <a:ext cx="397097" cy="3902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798160" y="2393688"/>
            <a:ext cx="397097" cy="3902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21950" y="191602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X1=1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5252" y="2104745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X1=2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2079" y="2054525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X1=3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1685" y="183264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X1=4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2050" y="3829050"/>
            <a:ext cx="19030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To be continued in next slide</a:t>
            </a:r>
          </a:p>
        </p:txBody>
      </p:sp>
    </p:spTree>
    <p:extLst>
      <p:ext uri="{BB962C8B-B14F-4D97-AF65-F5344CB8AC3E}">
        <p14:creationId xmlns:p14="http://schemas.microsoft.com/office/powerpoint/2010/main" val="46409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343400" y="951078"/>
            <a:ext cx="457200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4381883" y="1944482"/>
            <a:ext cx="397097" cy="3902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811449" y="2978996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4376109" y="2791927"/>
            <a:ext cx="407757" cy="40591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6936543" y="2978996"/>
            <a:ext cx="481533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" name="Oval 10"/>
          <p:cNvSpPr/>
          <p:nvPr/>
        </p:nvSpPr>
        <p:spPr>
          <a:xfrm>
            <a:off x="5129549" y="3489509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2" name="Oval 11"/>
          <p:cNvSpPr/>
          <p:nvPr/>
        </p:nvSpPr>
        <p:spPr>
          <a:xfrm>
            <a:off x="6220532" y="3574277"/>
            <a:ext cx="445077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3" name="Oval 12"/>
          <p:cNvSpPr/>
          <p:nvPr/>
        </p:nvSpPr>
        <p:spPr>
          <a:xfrm>
            <a:off x="7312486" y="3594784"/>
            <a:ext cx="512644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6" name="Oval 25"/>
          <p:cNvSpPr/>
          <p:nvPr/>
        </p:nvSpPr>
        <p:spPr>
          <a:xfrm>
            <a:off x="6186171" y="4666300"/>
            <a:ext cx="546134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38790" y="150651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X1=1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99926" y="2388433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00750" y="237809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00301" y="5486400"/>
            <a:ext cx="33281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Tree organization of 4 queens solution space in DFS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38790" y="2450352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7381" y="3159197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X3=4</a:t>
            </a:r>
          </a:p>
        </p:txBody>
      </p:sp>
      <p:sp>
        <p:nvSpPr>
          <p:cNvPr id="89" name="Oval 88"/>
          <p:cNvSpPr/>
          <p:nvPr/>
        </p:nvSpPr>
        <p:spPr>
          <a:xfrm>
            <a:off x="1149594" y="3562490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0" name="Oval 89"/>
          <p:cNvSpPr/>
          <p:nvPr/>
        </p:nvSpPr>
        <p:spPr>
          <a:xfrm>
            <a:off x="1157529" y="4666300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2" name="Oval 91"/>
          <p:cNvSpPr/>
          <p:nvPr/>
        </p:nvSpPr>
        <p:spPr>
          <a:xfrm>
            <a:off x="2539122" y="3552675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3" name="Oval 92"/>
          <p:cNvSpPr/>
          <p:nvPr/>
        </p:nvSpPr>
        <p:spPr>
          <a:xfrm>
            <a:off x="2547638" y="4653985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3736440" y="3527546"/>
            <a:ext cx="407757" cy="40591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4" name="Oval 103"/>
          <p:cNvSpPr/>
          <p:nvPr/>
        </p:nvSpPr>
        <p:spPr>
          <a:xfrm>
            <a:off x="3705968" y="4651606"/>
            <a:ext cx="468703" cy="43351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5" name="Oval 104"/>
          <p:cNvSpPr/>
          <p:nvPr/>
        </p:nvSpPr>
        <p:spPr>
          <a:xfrm>
            <a:off x="5129549" y="4603133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6" name="Oval 105"/>
          <p:cNvSpPr/>
          <p:nvPr/>
        </p:nvSpPr>
        <p:spPr>
          <a:xfrm>
            <a:off x="7301396" y="4677496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01021" y="316443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957935" y="315702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75487" y="315086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2451" y="323074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51154" y="323074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02261" y="4183937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20229" y="423299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980868" y="419623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25704" y="423299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91752" y="4201922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X4=3</a:t>
            </a:r>
          </a:p>
        </p:txBody>
      </p:sp>
      <p:cxnSp>
        <p:nvCxnSpPr>
          <p:cNvPr id="3" name="Straight Connector 2"/>
          <p:cNvCxnSpPr>
            <a:stCxn id="4" idx="4"/>
          </p:cNvCxnSpPr>
          <p:nvPr/>
        </p:nvCxnSpPr>
        <p:spPr>
          <a:xfrm>
            <a:off x="4572000" y="1408279"/>
            <a:ext cx="8432" cy="565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6"/>
            <a:endCxn id="9" idx="1"/>
          </p:cNvCxnSpPr>
          <p:nvPr/>
        </p:nvCxnSpPr>
        <p:spPr>
          <a:xfrm>
            <a:off x="4778980" y="2139606"/>
            <a:ext cx="2228082" cy="906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5" idx="2"/>
            <a:endCxn id="7" idx="0"/>
          </p:cNvCxnSpPr>
          <p:nvPr/>
        </p:nvCxnSpPr>
        <p:spPr>
          <a:xfrm flipH="1">
            <a:off x="2026777" y="2139606"/>
            <a:ext cx="2355107" cy="839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" idx="4"/>
            <a:endCxn id="8" idx="0"/>
          </p:cNvCxnSpPr>
          <p:nvPr/>
        </p:nvCxnSpPr>
        <p:spPr>
          <a:xfrm flipH="1">
            <a:off x="4579988" y="2334727"/>
            <a:ext cx="444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7" idx="2"/>
            <a:endCxn id="89" idx="0"/>
          </p:cNvCxnSpPr>
          <p:nvPr/>
        </p:nvCxnSpPr>
        <p:spPr>
          <a:xfrm flipH="1">
            <a:off x="1364923" y="3188407"/>
            <a:ext cx="446527" cy="374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7" idx="6"/>
            <a:endCxn id="92" idx="0"/>
          </p:cNvCxnSpPr>
          <p:nvPr/>
        </p:nvCxnSpPr>
        <p:spPr>
          <a:xfrm>
            <a:off x="2242106" y="3188406"/>
            <a:ext cx="512345" cy="364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8" idx="3"/>
            <a:endCxn id="103" idx="0"/>
          </p:cNvCxnSpPr>
          <p:nvPr/>
        </p:nvCxnSpPr>
        <p:spPr>
          <a:xfrm flipH="1">
            <a:off x="3940318" y="3138394"/>
            <a:ext cx="495506" cy="389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8" idx="5"/>
            <a:endCxn id="11" idx="1"/>
          </p:cNvCxnSpPr>
          <p:nvPr/>
        </p:nvCxnSpPr>
        <p:spPr>
          <a:xfrm>
            <a:off x="4724152" y="3138393"/>
            <a:ext cx="483721" cy="4217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9" idx="3"/>
            <a:endCxn id="12" idx="7"/>
          </p:cNvCxnSpPr>
          <p:nvPr/>
        </p:nvCxnSpPr>
        <p:spPr>
          <a:xfrm flipH="1">
            <a:off x="6600428" y="3369241"/>
            <a:ext cx="406634" cy="271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89" idx="4"/>
            <a:endCxn id="90" idx="0"/>
          </p:cNvCxnSpPr>
          <p:nvPr/>
        </p:nvCxnSpPr>
        <p:spPr>
          <a:xfrm>
            <a:off x="1364922" y="3981310"/>
            <a:ext cx="7935" cy="6849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92" idx="4"/>
            <a:endCxn id="93" idx="0"/>
          </p:cNvCxnSpPr>
          <p:nvPr/>
        </p:nvCxnSpPr>
        <p:spPr>
          <a:xfrm>
            <a:off x="2754450" y="3971495"/>
            <a:ext cx="8516" cy="682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103" idx="4"/>
            <a:endCxn id="104" idx="0"/>
          </p:cNvCxnSpPr>
          <p:nvPr/>
        </p:nvCxnSpPr>
        <p:spPr>
          <a:xfrm>
            <a:off x="3940319" y="3933458"/>
            <a:ext cx="0" cy="718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1" idx="4"/>
            <a:endCxn id="105" idx="0"/>
          </p:cNvCxnSpPr>
          <p:nvPr/>
        </p:nvCxnSpPr>
        <p:spPr>
          <a:xfrm>
            <a:off x="5396960" y="3971496"/>
            <a:ext cx="0" cy="631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12" idx="4"/>
            <a:endCxn id="26" idx="0"/>
          </p:cNvCxnSpPr>
          <p:nvPr/>
        </p:nvCxnSpPr>
        <p:spPr>
          <a:xfrm>
            <a:off x="6443070" y="4031477"/>
            <a:ext cx="16167" cy="634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7568807" y="423510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X4=3</a:t>
            </a:r>
          </a:p>
        </p:txBody>
      </p:sp>
      <p:cxnSp>
        <p:nvCxnSpPr>
          <p:cNvPr id="82" name="Straight Connector 81"/>
          <p:cNvCxnSpPr>
            <a:stCxn id="13" idx="4"/>
            <a:endCxn id="106" idx="0"/>
          </p:cNvCxnSpPr>
          <p:nvPr/>
        </p:nvCxnSpPr>
        <p:spPr>
          <a:xfrm flipH="1">
            <a:off x="7568808" y="4051984"/>
            <a:ext cx="1" cy="625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9" idx="5"/>
            <a:endCxn id="13" idx="7"/>
          </p:cNvCxnSpPr>
          <p:nvPr/>
        </p:nvCxnSpPr>
        <p:spPr>
          <a:xfrm>
            <a:off x="7347557" y="3369241"/>
            <a:ext cx="402497" cy="292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72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343400" y="951078"/>
            <a:ext cx="457200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4392748" y="1965486"/>
            <a:ext cx="459665" cy="3902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7" name="Oval 6"/>
          <p:cNvSpPr/>
          <p:nvPr/>
        </p:nvSpPr>
        <p:spPr>
          <a:xfrm>
            <a:off x="1811449" y="2978996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8" name="Oval 7"/>
          <p:cNvSpPr/>
          <p:nvPr/>
        </p:nvSpPr>
        <p:spPr>
          <a:xfrm>
            <a:off x="4434911" y="2803603"/>
            <a:ext cx="407757" cy="40591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9" name="Oval 8"/>
          <p:cNvSpPr/>
          <p:nvPr/>
        </p:nvSpPr>
        <p:spPr>
          <a:xfrm>
            <a:off x="6936543" y="2978996"/>
            <a:ext cx="481533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1" name="Oval 10"/>
          <p:cNvSpPr/>
          <p:nvPr/>
        </p:nvSpPr>
        <p:spPr>
          <a:xfrm>
            <a:off x="5129549" y="3489509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2" name="Oval 11"/>
          <p:cNvSpPr/>
          <p:nvPr/>
        </p:nvSpPr>
        <p:spPr>
          <a:xfrm>
            <a:off x="6220532" y="3574277"/>
            <a:ext cx="445077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13" name="Oval 12"/>
          <p:cNvSpPr/>
          <p:nvPr/>
        </p:nvSpPr>
        <p:spPr>
          <a:xfrm>
            <a:off x="7312486" y="3594784"/>
            <a:ext cx="512644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26" name="Oval 25"/>
          <p:cNvSpPr/>
          <p:nvPr/>
        </p:nvSpPr>
        <p:spPr>
          <a:xfrm>
            <a:off x="6186171" y="4666300"/>
            <a:ext cx="546134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38790" y="150651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X1=2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99926" y="2388433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00750" y="237809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X2=4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00301" y="5486400"/>
            <a:ext cx="33281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Tree organization of 4 queens solution space in DFS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38790" y="2450352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7381" y="3159197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X3=4</a:t>
            </a:r>
          </a:p>
        </p:txBody>
      </p:sp>
      <p:sp>
        <p:nvSpPr>
          <p:cNvPr id="89" name="Oval 88"/>
          <p:cNvSpPr/>
          <p:nvPr/>
        </p:nvSpPr>
        <p:spPr>
          <a:xfrm>
            <a:off x="1172409" y="3581499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90" name="Oval 89"/>
          <p:cNvSpPr/>
          <p:nvPr/>
        </p:nvSpPr>
        <p:spPr>
          <a:xfrm>
            <a:off x="1157529" y="4666300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92" name="Oval 91"/>
          <p:cNvSpPr/>
          <p:nvPr/>
        </p:nvSpPr>
        <p:spPr>
          <a:xfrm>
            <a:off x="2539122" y="3552675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93" name="Oval 92"/>
          <p:cNvSpPr/>
          <p:nvPr/>
        </p:nvSpPr>
        <p:spPr>
          <a:xfrm>
            <a:off x="2547638" y="4653985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03" name="Oval 102"/>
          <p:cNvSpPr/>
          <p:nvPr/>
        </p:nvSpPr>
        <p:spPr>
          <a:xfrm>
            <a:off x="3736440" y="3527546"/>
            <a:ext cx="407757" cy="40591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04" name="Oval 103"/>
          <p:cNvSpPr/>
          <p:nvPr/>
        </p:nvSpPr>
        <p:spPr>
          <a:xfrm>
            <a:off x="3705968" y="4651606"/>
            <a:ext cx="468703" cy="43351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105" name="Oval 104"/>
          <p:cNvSpPr/>
          <p:nvPr/>
        </p:nvSpPr>
        <p:spPr>
          <a:xfrm>
            <a:off x="5129549" y="4603133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06" name="Oval 105"/>
          <p:cNvSpPr/>
          <p:nvPr/>
        </p:nvSpPr>
        <p:spPr>
          <a:xfrm>
            <a:off x="7301396" y="4677496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01021" y="316443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957935" y="315702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75487" y="315086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2451" y="323074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51154" y="323074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X3=1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02261" y="4183937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20229" y="423299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X4=3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980868" y="419623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25704" y="423299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91752" y="4201922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X4=3</a:t>
            </a:r>
          </a:p>
        </p:txBody>
      </p:sp>
      <p:cxnSp>
        <p:nvCxnSpPr>
          <p:cNvPr id="3" name="Straight Connector 2"/>
          <p:cNvCxnSpPr>
            <a:stCxn id="4" idx="4"/>
          </p:cNvCxnSpPr>
          <p:nvPr/>
        </p:nvCxnSpPr>
        <p:spPr>
          <a:xfrm>
            <a:off x="4572000" y="1408279"/>
            <a:ext cx="8432" cy="565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6"/>
            <a:endCxn id="9" idx="1"/>
          </p:cNvCxnSpPr>
          <p:nvPr/>
        </p:nvCxnSpPr>
        <p:spPr>
          <a:xfrm>
            <a:off x="4852413" y="2160608"/>
            <a:ext cx="2154650" cy="885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5" idx="2"/>
            <a:endCxn id="7" idx="0"/>
          </p:cNvCxnSpPr>
          <p:nvPr/>
        </p:nvCxnSpPr>
        <p:spPr>
          <a:xfrm flipH="1">
            <a:off x="2026777" y="2160608"/>
            <a:ext cx="2365970" cy="818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" idx="4"/>
            <a:endCxn id="8" idx="0"/>
          </p:cNvCxnSpPr>
          <p:nvPr/>
        </p:nvCxnSpPr>
        <p:spPr>
          <a:xfrm>
            <a:off x="4622579" y="2355731"/>
            <a:ext cx="16211" cy="447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7" idx="2"/>
            <a:endCxn id="89" idx="0"/>
          </p:cNvCxnSpPr>
          <p:nvPr/>
        </p:nvCxnSpPr>
        <p:spPr>
          <a:xfrm flipH="1">
            <a:off x="1387738" y="3188406"/>
            <a:ext cx="423712" cy="393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7" idx="6"/>
            <a:endCxn id="92" idx="0"/>
          </p:cNvCxnSpPr>
          <p:nvPr/>
        </p:nvCxnSpPr>
        <p:spPr>
          <a:xfrm>
            <a:off x="2242106" y="3188406"/>
            <a:ext cx="512345" cy="364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8" idx="3"/>
            <a:endCxn id="103" idx="0"/>
          </p:cNvCxnSpPr>
          <p:nvPr/>
        </p:nvCxnSpPr>
        <p:spPr>
          <a:xfrm flipH="1">
            <a:off x="3940320" y="3150070"/>
            <a:ext cx="554308" cy="377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8" idx="5"/>
            <a:endCxn id="11" idx="1"/>
          </p:cNvCxnSpPr>
          <p:nvPr/>
        </p:nvCxnSpPr>
        <p:spPr>
          <a:xfrm>
            <a:off x="4782953" y="3150071"/>
            <a:ext cx="424919" cy="410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9" idx="3"/>
            <a:endCxn id="12" idx="7"/>
          </p:cNvCxnSpPr>
          <p:nvPr/>
        </p:nvCxnSpPr>
        <p:spPr>
          <a:xfrm flipH="1">
            <a:off x="6600428" y="3369241"/>
            <a:ext cx="406634" cy="271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89" idx="4"/>
            <a:endCxn id="90" idx="0"/>
          </p:cNvCxnSpPr>
          <p:nvPr/>
        </p:nvCxnSpPr>
        <p:spPr>
          <a:xfrm flipH="1">
            <a:off x="1372857" y="4000320"/>
            <a:ext cx="14880" cy="665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92" idx="4"/>
            <a:endCxn id="93" idx="0"/>
          </p:cNvCxnSpPr>
          <p:nvPr/>
        </p:nvCxnSpPr>
        <p:spPr>
          <a:xfrm>
            <a:off x="2754450" y="3971495"/>
            <a:ext cx="8516" cy="682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103" idx="4"/>
            <a:endCxn id="104" idx="0"/>
          </p:cNvCxnSpPr>
          <p:nvPr/>
        </p:nvCxnSpPr>
        <p:spPr>
          <a:xfrm>
            <a:off x="3940319" y="3933458"/>
            <a:ext cx="0" cy="718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1" idx="4"/>
            <a:endCxn id="105" idx="0"/>
          </p:cNvCxnSpPr>
          <p:nvPr/>
        </p:nvCxnSpPr>
        <p:spPr>
          <a:xfrm>
            <a:off x="5396960" y="3971496"/>
            <a:ext cx="0" cy="631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12" idx="4"/>
            <a:endCxn id="26" idx="0"/>
          </p:cNvCxnSpPr>
          <p:nvPr/>
        </p:nvCxnSpPr>
        <p:spPr>
          <a:xfrm>
            <a:off x="6443070" y="4031477"/>
            <a:ext cx="16167" cy="634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7568807" y="423510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X4=1</a:t>
            </a:r>
          </a:p>
        </p:txBody>
      </p:sp>
      <p:cxnSp>
        <p:nvCxnSpPr>
          <p:cNvPr id="82" name="Straight Connector 81"/>
          <p:cNvCxnSpPr>
            <a:stCxn id="13" idx="4"/>
            <a:endCxn id="106" idx="0"/>
          </p:cNvCxnSpPr>
          <p:nvPr/>
        </p:nvCxnSpPr>
        <p:spPr>
          <a:xfrm flipH="1">
            <a:off x="7568808" y="4051984"/>
            <a:ext cx="1" cy="625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9" idx="5"/>
            <a:endCxn id="13" idx="7"/>
          </p:cNvCxnSpPr>
          <p:nvPr/>
        </p:nvCxnSpPr>
        <p:spPr>
          <a:xfrm>
            <a:off x="7347557" y="3369241"/>
            <a:ext cx="402497" cy="292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63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343400" y="951078"/>
            <a:ext cx="457200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4392748" y="1965486"/>
            <a:ext cx="459665" cy="3902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34</a:t>
            </a:r>
          </a:p>
        </p:txBody>
      </p:sp>
      <p:sp>
        <p:nvSpPr>
          <p:cNvPr id="7" name="Oval 6"/>
          <p:cNvSpPr/>
          <p:nvPr/>
        </p:nvSpPr>
        <p:spPr>
          <a:xfrm>
            <a:off x="1811449" y="2978996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8" name="Oval 7"/>
          <p:cNvSpPr/>
          <p:nvPr/>
        </p:nvSpPr>
        <p:spPr>
          <a:xfrm>
            <a:off x="4434911" y="2803603"/>
            <a:ext cx="407757" cy="40591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9" name="Oval 8"/>
          <p:cNvSpPr/>
          <p:nvPr/>
        </p:nvSpPr>
        <p:spPr>
          <a:xfrm>
            <a:off x="6936543" y="2978996"/>
            <a:ext cx="481533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11" name="Oval 10"/>
          <p:cNvSpPr/>
          <p:nvPr/>
        </p:nvSpPr>
        <p:spPr>
          <a:xfrm>
            <a:off x="5129549" y="3489509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43</a:t>
            </a:r>
          </a:p>
        </p:txBody>
      </p:sp>
      <p:sp>
        <p:nvSpPr>
          <p:cNvPr id="12" name="Oval 11"/>
          <p:cNvSpPr/>
          <p:nvPr/>
        </p:nvSpPr>
        <p:spPr>
          <a:xfrm>
            <a:off x="6220532" y="3574277"/>
            <a:ext cx="445077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46</a:t>
            </a:r>
          </a:p>
        </p:txBody>
      </p:sp>
      <p:sp>
        <p:nvSpPr>
          <p:cNvPr id="13" name="Oval 12"/>
          <p:cNvSpPr/>
          <p:nvPr/>
        </p:nvSpPr>
        <p:spPr>
          <a:xfrm>
            <a:off x="7312485" y="3641233"/>
            <a:ext cx="512644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48</a:t>
            </a:r>
          </a:p>
        </p:txBody>
      </p:sp>
      <p:sp>
        <p:nvSpPr>
          <p:cNvPr id="26" name="Oval 25"/>
          <p:cNvSpPr/>
          <p:nvPr/>
        </p:nvSpPr>
        <p:spPr>
          <a:xfrm>
            <a:off x="6186171" y="4666300"/>
            <a:ext cx="546134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38790" y="150651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X1=3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99926" y="2388433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X2=1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00750" y="237809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00301" y="5486400"/>
            <a:ext cx="33281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Tree organization of 4 queens solution space in DFS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38790" y="2450352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7381" y="3159197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X3=4</a:t>
            </a:r>
          </a:p>
        </p:txBody>
      </p:sp>
      <p:sp>
        <p:nvSpPr>
          <p:cNvPr id="89" name="Oval 88"/>
          <p:cNvSpPr/>
          <p:nvPr/>
        </p:nvSpPr>
        <p:spPr>
          <a:xfrm>
            <a:off x="1172409" y="3581499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90" name="Oval 89"/>
          <p:cNvSpPr/>
          <p:nvPr/>
        </p:nvSpPr>
        <p:spPr>
          <a:xfrm>
            <a:off x="1157529" y="4666300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92" name="Oval 91"/>
          <p:cNvSpPr/>
          <p:nvPr/>
        </p:nvSpPr>
        <p:spPr>
          <a:xfrm>
            <a:off x="2539122" y="3552675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38</a:t>
            </a:r>
          </a:p>
        </p:txBody>
      </p:sp>
      <p:sp>
        <p:nvSpPr>
          <p:cNvPr id="93" name="Oval 92"/>
          <p:cNvSpPr/>
          <p:nvPr/>
        </p:nvSpPr>
        <p:spPr>
          <a:xfrm>
            <a:off x="2547638" y="4653985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39</a:t>
            </a:r>
          </a:p>
        </p:txBody>
      </p:sp>
      <p:sp>
        <p:nvSpPr>
          <p:cNvPr id="103" name="Oval 102"/>
          <p:cNvSpPr/>
          <p:nvPr/>
        </p:nvSpPr>
        <p:spPr>
          <a:xfrm>
            <a:off x="3736440" y="3527546"/>
            <a:ext cx="407757" cy="40591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104" name="Oval 103"/>
          <p:cNvSpPr/>
          <p:nvPr/>
        </p:nvSpPr>
        <p:spPr>
          <a:xfrm>
            <a:off x="3705968" y="4651606"/>
            <a:ext cx="468703" cy="43351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05" name="Oval 104"/>
          <p:cNvSpPr/>
          <p:nvPr/>
        </p:nvSpPr>
        <p:spPr>
          <a:xfrm>
            <a:off x="5129549" y="4603133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44</a:t>
            </a:r>
          </a:p>
        </p:txBody>
      </p:sp>
      <p:sp>
        <p:nvSpPr>
          <p:cNvPr id="106" name="Oval 105"/>
          <p:cNvSpPr/>
          <p:nvPr/>
        </p:nvSpPr>
        <p:spPr>
          <a:xfrm>
            <a:off x="7301396" y="4677496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01021" y="316443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957935" y="315702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75487" y="315086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2451" y="323074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51154" y="323074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02261" y="4183937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20229" y="423299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980868" y="419623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25704" y="423299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91752" y="4201922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X4=2</a:t>
            </a:r>
          </a:p>
        </p:txBody>
      </p:sp>
      <p:cxnSp>
        <p:nvCxnSpPr>
          <p:cNvPr id="3" name="Straight Connector 2"/>
          <p:cNvCxnSpPr>
            <a:stCxn id="4" idx="4"/>
          </p:cNvCxnSpPr>
          <p:nvPr/>
        </p:nvCxnSpPr>
        <p:spPr>
          <a:xfrm>
            <a:off x="4572000" y="1408279"/>
            <a:ext cx="8432" cy="565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6"/>
            <a:endCxn id="9" idx="1"/>
          </p:cNvCxnSpPr>
          <p:nvPr/>
        </p:nvCxnSpPr>
        <p:spPr>
          <a:xfrm>
            <a:off x="4852413" y="2160608"/>
            <a:ext cx="2154650" cy="885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5" idx="2"/>
            <a:endCxn id="7" idx="0"/>
          </p:cNvCxnSpPr>
          <p:nvPr/>
        </p:nvCxnSpPr>
        <p:spPr>
          <a:xfrm flipH="1">
            <a:off x="2026777" y="2160608"/>
            <a:ext cx="2365970" cy="818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" idx="4"/>
            <a:endCxn id="8" idx="0"/>
          </p:cNvCxnSpPr>
          <p:nvPr/>
        </p:nvCxnSpPr>
        <p:spPr>
          <a:xfrm>
            <a:off x="4622579" y="2355731"/>
            <a:ext cx="16211" cy="447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7" idx="2"/>
            <a:endCxn id="89" idx="0"/>
          </p:cNvCxnSpPr>
          <p:nvPr/>
        </p:nvCxnSpPr>
        <p:spPr>
          <a:xfrm flipH="1">
            <a:off x="1387738" y="3188406"/>
            <a:ext cx="423712" cy="393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7" idx="6"/>
            <a:endCxn id="92" idx="0"/>
          </p:cNvCxnSpPr>
          <p:nvPr/>
        </p:nvCxnSpPr>
        <p:spPr>
          <a:xfrm>
            <a:off x="2242106" y="3188406"/>
            <a:ext cx="512345" cy="364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8" idx="3"/>
            <a:endCxn id="103" idx="0"/>
          </p:cNvCxnSpPr>
          <p:nvPr/>
        </p:nvCxnSpPr>
        <p:spPr>
          <a:xfrm flipH="1">
            <a:off x="3940320" y="3150070"/>
            <a:ext cx="554308" cy="377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8" idx="5"/>
            <a:endCxn id="11" idx="1"/>
          </p:cNvCxnSpPr>
          <p:nvPr/>
        </p:nvCxnSpPr>
        <p:spPr>
          <a:xfrm>
            <a:off x="4782953" y="3150071"/>
            <a:ext cx="424919" cy="410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9" idx="3"/>
            <a:endCxn id="12" idx="7"/>
          </p:cNvCxnSpPr>
          <p:nvPr/>
        </p:nvCxnSpPr>
        <p:spPr>
          <a:xfrm flipH="1">
            <a:off x="6600428" y="3369241"/>
            <a:ext cx="406634" cy="271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89" idx="4"/>
            <a:endCxn id="90" idx="0"/>
          </p:cNvCxnSpPr>
          <p:nvPr/>
        </p:nvCxnSpPr>
        <p:spPr>
          <a:xfrm flipH="1">
            <a:off x="1372857" y="4000320"/>
            <a:ext cx="14880" cy="665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92" idx="4"/>
            <a:endCxn id="93" idx="0"/>
          </p:cNvCxnSpPr>
          <p:nvPr/>
        </p:nvCxnSpPr>
        <p:spPr>
          <a:xfrm>
            <a:off x="2754450" y="3971495"/>
            <a:ext cx="8516" cy="682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103" idx="4"/>
            <a:endCxn id="104" idx="0"/>
          </p:cNvCxnSpPr>
          <p:nvPr/>
        </p:nvCxnSpPr>
        <p:spPr>
          <a:xfrm>
            <a:off x="3940319" y="3933458"/>
            <a:ext cx="0" cy="718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1" idx="4"/>
            <a:endCxn id="105" idx="0"/>
          </p:cNvCxnSpPr>
          <p:nvPr/>
        </p:nvCxnSpPr>
        <p:spPr>
          <a:xfrm>
            <a:off x="5396960" y="3971496"/>
            <a:ext cx="0" cy="631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12" idx="4"/>
            <a:endCxn id="26" idx="0"/>
          </p:cNvCxnSpPr>
          <p:nvPr/>
        </p:nvCxnSpPr>
        <p:spPr>
          <a:xfrm>
            <a:off x="6443070" y="4031477"/>
            <a:ext cx="16167" cy="634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7568807" y="423510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X4=1</a:t>
            </a:r>
          </a:p>
        </p:txBody>
      </p:sp>
      <p:cxnSp>
        <p:nvCxnSpPr>
          <p:cNvPr id="82" name="Straight Connector 81"/>
          <p:cNvCxnSpPr>
            <a:stCxn id="13" idx="4"/>
            <a:endCxn id="106" idx="0"/>
          </p:cNvCxnSpPr>
          <p:nvPr/>
        </p:nvCxnSpPr>
        <p:spPr>
          <a:xfrm>
            <a:off x="7568807" y="4098433"/>
            <a:ext cx="0" cy="579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9" idx="5"/>
            <a:endCxn id="13" idx="7"/>
          </p:cNvCxnSpPr>
          <p:nvPr/>
        </p:nvCxnSpPr>
        <p:spPr>
          <a:xfrm>
            <a:off x="7347558" y="3369241"/>
            <a:ext cx="402496" cy="338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59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343400" y="951078"/>
            <a:ext cx="457200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4392748" y="1965486"/>
            <a:ext cx="459665" cy="3902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7" name="Oval 6"/>
          <p:cNvSpPr/>
          <p:nvPr/>
        </p:nvSpPr>
        <p:spPr>
          <a:xfrm>
            <a:off x="1811449" y="2978996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8" name="Oval 7"/>
          <p:cNvSpPr/>
          <p:nvPr/>
        </p:nvSpPr>
        <p:spPr>
          <a:xfrm>
            <a:off x="4434911" y="2803603"/>
            <a:ext cx="407757" cy="40591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9" name="Oval 8"/>
          <p:cNvSpPr/>
          <p:nvPr/>
        </p:nvSpPr>
        <p:spPr>
          <a:xfrm>
            <a:off x="6936543" y="2978996"/>
            <a:ext cx="481533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61</a:t>
            </a:r>
          </a:p>
        </p:txBody>
      </p:sp>
      <p:sp>
        <p:nvSpPr>
          <p:cNvPr id="11" name="Oval 10"/>
          <p:cNvSpPr/>
          <p:nvPr/>
        </p:nvSpPr>
        <p:spPr>
          <a:xfrm>
            <a:off x="5129549" y="3489509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59</a:t>
            </a:r>
          </a:p>
        </p:txBody>
      </p:sp>
      <p:sp>
        <p:nvSpPr>
          <p:cNvPr id="12" name="Oval 11"/>
          <p:cNvSpPr/>
          <p:nvPr/>
        </p:nvSpPr>
        <p:spPr>
          <a:xfrm>
            <a:off x="6220532" y="3574277"/>
            <a:ext cx="445077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62</a:t>
            </a:r>
          </a:p>
        </p:txBody>
      </p:sp>
      <p:sp>
        <p:nvSpPr>
          <p:cNvPr id="13" name="Oval 12"/>
          <p:cNvSpPr/>
          <p:nvPr/>
        </p:nvSpPr>
        <p:spPr>
          <a:xfrm>
            <a:off x="7312485" y="3641233"/>
            <a:ext cx="512644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64</a:t>
            </a:r>
          </a:p>
        </p:txBody>
      </p:sp>
      <p:sp>
        <p:nvSpPr>
          <p:cNvPr id="26" name="Oval 25"/>
          <p:cNvSpPr/>
          <p:nvPr/>
        </p:nvSpPr>
        <p:spPr>
          <a:xfrm>
            <a:off x="6186171" y="4666300"/>
            <a:ext cx="546134" cy="457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38790" y="150651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X1=4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99926" y="2388433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00750" y="237809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00301" y="5486400"/>
            <a:ext cx="33281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Tree organization of 4 queens solution space in DFS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38790" y="2450352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X2=2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7381" y="3159197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X3=3</a:t>
            </a:r>
          </a:p>
        </p:txBody>
      </p:sp>
      <p:sp>
        <p:nvSpPr>
          <p:cNvPr id="89" name="Oval 88"/>
          <p:cNvSpPr/>
          <p:nvPr/>
        </p:nvSpPr>
        <p:spPr>
          <a:xfrm>
            <a:off x="1172409" y="3581499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52</a:t>
            </a:r>
          </a:p>
        </p:txBody>
      </p:sp>
      <p:sp>
        <p:nvSpPr>
          <p:cNvPr id="90" name="Oval 89"/>
          <p:cNvSpPr/>
          <p:nvPr/>
        </p:nvSpPr>
        <p:spPr>
          <a:xfrm>
            <a:off x="1157529" y="4666300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92" name="Oval 91"/>
          <p:cNvSpPr/>
          <p:nvPr/>
        </p:nvSpPr>
        <p:spPr>
          <a:xfrm>
            <a:off x="2539122" y="3552675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54</a:t>
            </a:r>
          </a:p>
        </p:txBody>
      </p:sp>
      <p:sp>
        <p:nvSpPr>
          <p:cNvPr id="93" name="Oval 92"/>
          <p:cNvSpPr/>
          <p:nvPr/>
        </p:nvSpPr>
        <p:spPr>
          <a:xfrm>
            <a:off x="2547638" y="4653985"/>
            <a:ext cx="430656" cy="4188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03" name="Oval 102"/>
          <p:cNvSpPr/>
          <p:nvPr/>
        </p:nvSpPr>
        <p:spPr>
          <a:xfrm>
            <a:off x="3736440" y="3527546"/>
            <a:ext cx="407757" cy="40591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04" name="Oval 103"/>
          <p:cNvSpPr/>
          <p:nvPr/>
        </p:nvSpPr>
        <p:spPr>
          <a:xfrm>
            <a:off x="3705968" y="4651606"/>
            <a:ext cx="468703" cy="43351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58</a:t>
            </a:r>
          </a:p>
        </p:txBody>
      </p:sp>
      <p:sp>
        <p:nvSpPr>
          <p:cNvPr id="105" name="Oval 104"/>
          <p:cNvSpPr/>
          <p:nvPr/>
        </p:nvSpPr>
        <p:spPr>
          <a:xfrm>
            <a:off x="5129549" y="4603133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60</a:t>
            </a:r>
          </a:p>
        </p:txBody>
      </p:sp>
      <p:sp>
        <p:nvSpPr>
          <p:cNvPr id="106" name="Oval 105"/>
          <p:cNvSpPr/>
          <p:nvPr/>
        </p:nvSpPr>
        <p:spPr>
          <a:xfrm>
            <a:off x="7301396" y="4677496"/>
            <a:ext cx="534822" cy="48198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01021" y="316443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957935" y="315702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775487" y="3150866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2451" y="323074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51154" y="323074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X3=1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02261" y="4183937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20229" y="423299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980868" y="4196238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25704" y="4232990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91752" y="4201922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X4=2</a:t>
            </a:r>
          </a:p>
        </p:txBody>
      </p:sp>
      <p:cxnSp>
        <p:nvCxnSpPr>
          <p:cNvPr id="3" name="Straight Connector 2"/>
          <p:cNvCxnSpPr>
            <a:stCxn id="4" idx="4"/>
          </p:cNvCxnSpPr>
          <p:nvPr/>
        </p:nvCxnSpPr>
        <p:spPr>
          <a:xfrm>
            <a:off x="4572000" y="1408279"/>
            <a:ext cx="8432" cy="565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6"/>
            <a:endCxn id="9" idx="1"/>
          </p:cNvCxnSpPr>
          <p:nvPr/>
        </p:nvCxnSpPr>
        <p:spPr>
          <a:xfrm>
            <a:off x="4852413" y="2160608"/>
            <a:ext cx="2154650" cy="885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5" idx="2"/>
            <a:endCxn id="7" idx="0"/>
          </p:cNvCxnSpPr>
          <p:nvPr/>
        </p:nvCxnSpPr>
        <p:spPr>
          <a:xfrm flipH="1">
            <a:off x="2026777" y="2160608"/>
            <a:ext cx="2365970" cy="818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5" idx="4"/>
            <a:endCxn id="8" idx="0"/>
          </p:cNvCxnSpPr>
          <p:nvPr/>
        </p:nvCxnSpPr>
        <p:spPr>
          <a:xfrm>
            <a:off x="4622579" y="2355731"/>
            <a:ext cx="16211" cy="447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7" idx="2"/>
            <a:endCxn id="89" idx="0"/>
          </p:cNvCxnSpPr>
          <p:nvPr/>
        </p:nvCxnSpPr>
        <p:spPr>
          <a:xfrm flipH="1">
            <a:off x="1387738" y="3188406"/>
            <a:ext cx="423712" cy="393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7" idx="6"/>
            <a:endCxn id="92" idx="0"/>
          </p:cNvCxnSpPr>
          <p:nvPr/>
        </p:nvCxnSpPr>
        <p:spPr>
          <a:xfrm>
            <a:off x="2242106" y="3188406"/>
            <a:ext cx="512345" cy="364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8" idx="3"/>
            <a:endCxn id="103" idx="0"/>
          </p:cNvCxnSpPr>
          <p:nvPr/>
        </p:nvCxnSpPr>
        <p:spPr>
          <a:xfrm flipH="1">
            <a:off x="3940320" y="3150070"/>
            <a:ext cx="554308" cy="377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8" idx="5"/>
            <a:endCxn id="11" idx="1"/>
          </p:cNvCxnSpPr>
          <p:nvPr/>
        </p:nvCxnSpPr>
        <p:spPr>
          <a:xfrm>
            <a:off x="4782953" y="3150071"/>
            <a:ext cx="424919" cy="410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9" idx="3"/>
            <a:endCxn id="12" idx="7"/>
          </p:cNvCxnSpPr>
          <p:nvPr/>
        </p:nvCxnSpPr>
        <p:spPr>
          <a:xfrm flipH="1">
            <a:off x="6600428" y="3369241"/>
            <a:ext cx="406634" cy="271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89" idx="4"/>
            <a:endCxn id="90" idx="0"/>
          </p:cNvCxnSpPr>
          <p:nvPr/>
        </p:nvCxnSpPr>
        <p:spPr>
          <a:xfrm flipH="1">
            <a:off x="1372857" y="4000320"/>
            <a:ext cx="14880" cy="665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92" idx="4"/>
            <a:endCxn id="93" idx="0"/>
          </p:cNvCxnSpPr>
          <p:nvPr/>
        </p:nvCxnSpPr>
        <p:spPr>
          <a:xfrm>
            <a:off x="2754450" y="3971495"/>
            <a:ext cx="8516" cy="682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103" idx="4"/>
            <a:endCxn id="104" idx="0"/>
          </p:cNvCxnSpPr>
          <p:nvPr/>
        </p:nvCxnSpPr>
        <p:spPr>
          <a:xfrm>
            <a:off x="3940319" y="3933458"/>
            <a:ext cx="0" cy="718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1" idx="4"/>
            <a:endCxn id="105" idx="0"/>
          </p:cNvCxnSpPr>
          <p:nvPr/>
        </p:nvCxnSpPr>
        <p:spPr>
          <a:xfrm>
            <a:off x="5396960" y="3971496"/>
            <a:ext cx="0" cy="631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12" idx="4"/>
            <a:endCxn id="26" idx="0"/>
          </p:cNvCxnSpPr>
          <p:nvPr/>
        </p:nvCxnSpPr>
        <p:spPr>
          <a:xfrm>
            <a:off x="6443070" y="4031477"/>
            <a:ext cx="16167" cy="634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7568807" y="4235101"/>
            <a:ext cx="5036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X4=1</a:t>
            </a:r>
          </a:p>
        </p:txBody>
      </p:sp>
      <p:cxnSp>
        <p:nvCxnSpPr>
          <p:cNvPr id="82" name="Straight Connector 81"/>
          <p:cNvCxnSpPr>
            <a:stCxn id="13" idx="4"/>
            <a:endCxn id="106" idx="0"/>
          </p:cNvCxnSpPr>
          <p:nvPr/>
        </p:nvCxnSpPr>
        <p:spPr>
          <a:xfrm>
            <a:off x="7568807" y="4098433"/>
            <a:ext cx="0" cy="579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9" idx="5"/>
            <a:endCxn id="13" idx="7"/>
          </p:cNvCxnSpPr>
          <p:nvPr/>
        </p:nvCxnSpPr>
        <p:spPr>
          <a:xfrm>
            <a:off x="7347558" y="3369241"/>
            <a:ext cx="402496" cy="338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37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"/>
          <p:cNvSpPr txBox="1"/>
          <p:nvPr/>
        </p:nvSpPr>
        <p:spPr>
          <a:xfrm>
            <a:off x="457200" y="2286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Algorithm – The n-queen problem</a:t>
            </a:r>
            <a:endParaRPr/>
          </a:p>
        </p:txBody>
      </p:sp>
      <p:sp>
        <p:nvSpPr>
          <p:cNvPr id="466" name="Google Shape;466;p9"/>
          <p:cNvSpPr txBox="1"/>
          <p:nvPr/>
        </p:nvSpPr>
        <p:spPr>
          <a:xfrm>
            <a:off x="76200" y="2112962"/>
            <a:ext cx="8229600" cy="474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NQueen</a:t>
            </a: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(k, n)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{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for </a:t>
            </a:r>
            <a:r>
              <a:rPr lang="en-US" sz="2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= 1 to n do{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Place(k, </a:t>
            </a:r>
            <a:r>
              <a:rPr lang="en-US" sz="2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 then{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x[k] = </a:t>
            </a:r>
            <a:r>
              <a:rPr lang="en-US" sz="2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if (k = n) then write (x[1:n]);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else </a:t>
            </a:r>
            <a:r>
              <a:rPr lang="en-US" sz="2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Nqueen</a:t>
            </a: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(k+1, n);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}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}</a:t>
            </a:r>
            <a:endParaRPr dirty="0"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7" name="Google Shape;467;p9"/>
          <p:cNvSpPr txBox="1"/>
          <p:nvPr/>
        </p:nvSpPr>
        <p:spPr>
          <a:xfrm>
            <a:off x="4114800" y="1244600"/>
            <a:ext cx="4876800" cy="2289175"/>
          </a:xfrm>
          <a:prstGeom prst="rect">
            <a:avLst/>
          </a:prstGeom>
          <a:noFill/>
          <a:ln w="9525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Plac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(k,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for j = 1 to k - 1 do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if((x[j] =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 or (Abs(x[j] –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 = Abs(j - k )))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return false;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return true;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 dirty="0"/>
          </a:p>
        </p:txBody>
      </p:sp>
      <p:sp>
        <p:nvSpPr>
          <p:cNvPr id="468" name="Google Shape;468;p9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"/>
          <p:cNvSpPr txBox="1"/>
          <p:nvPr/>
        </p:nvSpPr>
        <p:spPr>
          <a:xfrm>
            <a:off x="457200" y="381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/>
          </a:p>
        </p:txBody>
      </p:sp>
      <p:pic>
        <p:nvPicPr>
          <p:cNvPr id="475" name="Google Shape;47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371600"/>
            <a:ext cx="3506787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0" y="1371600"/>
            <a:ext cx="34099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3657600"/>
            <a:ext cx="3579812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5800" y="3581400"/>
            <a:ext cx="3560762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0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"/>
          <p:cNvSpPr txBox="1"/>
          <p:nvPr/>
        </p:nvSpPr>
        <p:spPr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Continued…</a:t>
            </a:r>
            <a:endParaRPr/>
          </a:p>
        </p:txBody>
      </p:sp>
      <p:pic>
        <p:nvPicPr>
          <p:cNvPr id="486" name="Google Shape;48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4150" y="1762125"/>
            <a:ext cx="32194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7625" y="3886200"/>
            <a:ext cx="64547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1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2"/>
          <p:cNvSpPr txBox="1"/>
          <p:nvPr/>
        </p:nvSpPr>
        <p:spPr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Hamiltonian Cycles</a:t>
            </a:r>
            <a:endParaRPr/>
          </a:p>
        </p:txBody>
      </p:sp>
      <p:sp>
        <p:nvSpPr>
          <p:cNvPr id="495" name="Google Shape;495;p12"/>
          <p:cNvSpPr txBox="1"/>
          <p:nvPr/>
        </p:nvSpPr>
        <p:spPr>
          <a:xfrm>
            <a:off x="457200" y="1563687"/>
            <a:ext cx="8229600" cy="514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Definitions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Hamiltonian cycle (HC): is a cycle which passes once and exactly once through every vertex of G and returns to starting position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Hamiltonian path: is a path which passes once and exactly once through every vertex of G (G can be digraph).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 graph is Hamiltonian iff a Hamiltonian cycle (HC) exists.</a:t>
            </a:r>
            <a:endParaRPr/>
          </a:p>
        </p:txBody>
      </p:sp>
      <p:sp>
        <p:nvSpPr>
          <p:cNvPr id="496" name="Google Shape;496;p12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3"/>
          <p:cNvSpPr txBox="1"/>
          <p:nvPr/>
        </p:nvSpPr>
        <p:spPr>
          <a:xfrm>
            <a:off x="457200" y="436562"/>
            <a:ext cx="8229600" cy="127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The Hamiltonian Circuits Problem</a:t>
            </a:r>
            <a:endParaRPr/>
          </a:p>
        </p:txBody>
      </p:sp>
      <p:sp>
        <p:nvSpPr>
          <p:cNvPr id="503" name="Google Shape;503;p13"/>
          <p:cNvSpPr txBox="1"/>
          <p:nvPr/>
        </p:nvSpPr>
        <p:spPr>
          <a:xfrm>
            <a:off x="457200" y="152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Hamiltonian Circuit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[v1, v2, v8, v7, v6, v5, v4, v3, v1]</a:t>
            </a:r>
            <a:endParaRPr/>
          </a:p>
        </p:txBody>
      </p:sp>
      <p:grpSp>
        <p:nvGrpSpPr>
          <p:cNvPr id="504" name="Google Shape;504;p13"/>
          <p:cNvGrpSpPr/>
          <p:nvPr/>
        </p:nvGrpSpPr>
        <p:grpSpPr>
          <a:xfrm>
            <a:off x="685800" y="2820988"/>
            <a:ext cx="4722812" cy="1674812"/>
            <a:chOff x="432" y="1777"/>
            <a:chExt cx="2975" cy="1055"/>
          </a:xfrm>
        </p:grpSpPr>
        <p:sp>
          <p:nvSpPr>
            <p:cNvPr id="505" name="Google Shape;505;p13"/>
            <p:cNvSpPr/>
            <p:nvPr/>
          </p:nvSpPr>
          <p:spPr>
            <a:xfrm>
              <a:off x="480" y="1777"/>
              <a:ext cx="383" cy="383"/>
            </a:xfrm>
            <a:prstGeom prst="flowChartConnector">
              <a:avLst/>
            </a:prstGeom>
            <a:noFill/>
            <a:ln w="19075" cap="sq" cmpd="sng">
              <a:solidFill>
                <a:srgbClr val="3B3B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rgia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v1</a:t>
              </a:r>
              <a:endParaRPr/>
            </a:p>
          </p:txBody>
        </p:sp>
        <p:sp>
          <p:nvSpPr>
            <p:cNvPr id="506" name="Google Shape;506;p13"/>
            <p:cNvSpPr/>
            <p:nvPr/>
          </p:nvSpPr>
          <p:spPr>
            <a:xfrm>
              <a:off x="1344" y="1777"/>
              <a:ext cx="383" cy="383"/>
            </a:xfrm>
            <a:prstGeom prst="flowChartConnector">
              <a:avLst/>
            </a:prstGeom>
            <a:noFill/>
            <a:ln w="19075" cap="sq" cmpd="sng">
              <a:solidFill>
                <a:srgbClr val="3B3B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rgia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v2</a:t>
              </a:r>
              <a:endParaRPr/>
            </a:p>
          </p:txBody>
        </p:sp>
        <p:sp>
          <p:nvSpPr>
            <p:cNvPr id="507" name="Google Shape;507;p13"/>
            <p:cNvSpPr/>
            <p:nvPr/>
          </p:nvSpPr>
          <p:spPr>
            <a:xfrm>
              <a:off x="2208" y="1777"/>
              <a:ext cx="383" cy="383"/>
            </a:xfrm>
            <a:prstGeom prst="flowChartConnector">
              <a:avLst/>
            </a:prstGeom>
            <a:noFill/>
            <a:ln w="19075" cap="sq" cmpd="sng">
              <a:solidFill>
                <a:srgbClr val="3B3B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rgia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v3</a:t>
              </a:r>
              <a:endParaRPr/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3024" y="1777"/>
              <a:ext cx="383" cy="383"/>
            </a:xfrm>
            <a:prstGeom prst="flowChartConnector">
              <a:avLst/>
            </a:prstGeom>
            <a:noFill/>
            <a:ln w="19075" cap="sq" cmpd="sng">
              <a:solidFill>
                <a:srgbClr val="3B3B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rgia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v4</a:t>
              </a:r>
              <a:endParaRPr/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3024" y="2449"/>
              <a:ext cx="383" cy="383"/>
            </a:xfrm>
            <a:prstGeom prst="flowChartConnector">
              <a:avLst/>
            </a:prstGeom>
            <a:noFill/>
            <a:ln w="19075" cap="sq" cmpd="sng">
              <a:solidFill>
                <a:srgbClr val="3B3B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rgia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v5</a:t>
              </a:r>
              <a:endParaRPr/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2208" y="2449"/>
              <a:ext cx="383" cy="383"/>
            </a:xfrm>
            <a:prstGeom prst="flowChartConnector">
              <a:avLst/>
            </a:prstGeom>
            <a:noFill/>
            <a:ln w="19075" cap="sq" cmpd="sng">
              <a:solidFill>
                <a:srgbClr val="3B3B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rgia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v6</a:t>
              </a:r>
              <a:endParaRPr/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1296" y="2449"/>
              <a:ext cx="383" cy="383"/>
            </a:xfrm>
            <a:prstGeom prst="flowChartConnector">
              <a:avLst/>
            </a:prstGeom>
            <a:noFill/>
            <a:ln w="19075" cap="sq" cmpd="sng">
              <a:solidFill>
                <a:srgbClr val="3B3B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rgia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v7</a:t>
              </a: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432" y="2449"/>
              <a:ext cx="431" cy="383"/>
            </a:xfrm>
            <a:prstGeom prst="flowChartConnector">
              <a:avLst/>
            </a:prstGeom>
            <a:noFill/>
            <a:ln w="19075" cap="sq" cmpd="sng">
              <a:solidFill>
                <a:srgbClr val="3B3B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Georgia"/>
                <a:buNone/>
              </a:pPr>
              <a:r>
                <a:rPr lang="en-US" sz="1800" b="0" i="0" u="non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v8</a:t>
              </a:r>
              <a:endParaRPr/>
            </a:p>
          </p:txBody>
        </p:sp>
        <p:cxnSp>
          <p:nvCxnSpPr>
            <p:cNvPr id="513" name="Google Shape;513;p13"/>
            <p:cNvCxnSpPr/>
            <p:nvPr/>
          </p:nvCxnSpPr>
          <p:spPr>
            <a:xfrm>
              <a:off x="864" y="1969"/>
              <a:ext cx="479" cy="0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4" name="Google Shape;514;p13"/>
            <p:cNvCxnSpPr/>
            <p:nvPr/>
          </p:nvCxnSpPr>
          <p:spPr>
            <a:xfrm>
              <a:off x="1728" y="1969"/>
              <a:ext cx="479" cy="0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5" name="Google Shape;515;p13"/>
            <p:cNvCxnSpPr/>
            <p:nvPr/>
          </p:nvCxnSpPr>
          <p:spPr>
            <a:xfrm>
              <a:off x="2592" y="1969"/>
              <a:ext cx="431" cy="0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6" name="Google Shape;516;p13"/>
            <p:cNvCxnSpPr/>
            <p:nvPr/>
          </p:nvCxnSpPr>
          <p:spPr>
            <a:xfrm flipH="1">
              <a:off x="3214" y="2161"/>
              <a:ext cx="3" cy="287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7" name="Google Shape;517;p13"/>
            <p:cNvCxnSpPr/>
            <p:nvPr/>
          </p:nvCxnSpPr>
          <p:spPr>
            <a:xfrm rot="10800000">
              <a:off x="2591" y="2640"/>
              <a:ext cx="433" cy="2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8" name="Google Shape;518;p13"/>
            <p:cNvCxnSpPr/>
            <p:nvPr/>
          </p:nvCxnSpPr>
          <p:spPr>
            <a:xfrm rot="10800000">
              <a:off x="1679" y="2640"/>
              <a:ext cx="529" cy="2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9" name="Google Shape;519;p13"/>
            <p:cNvCxnSpPr/>
            <p:nvPr/>
          </p:nvCxnSpPr>
          <p:spPr>
            <a:xfrm rot="10800000">
              <a:off x="863" y="2640"/>
              <a:ext cx="433" cy="2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20" name="Google Shape;520;p13"/>
            <p:cNvCxnSpPr/>
            <p:nvPr/>
          </p:nvCxnSpPr>
          <p:spPr>
            <a:xfrm flipH="1">
              <a:off x="800" y="2104"/>
              <a:ext cx="600" cy="400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21" name="Google Shape;521;p13"/>
            <p:cNvCxnSpPr/>
            <p:nvPr/>
          </p:nvCxnSpPr>
          <p:spPr>
            <a:xfrm>
              <a:off x="808" y="2104"/>
              <a:ext cx="543" cy="400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22" name="Google Shape;522;p13"/>
            <p:cNvCxnSpPr/>
            <p:nvPr/>
          </p:nvCxnSpPr>
          <p:spPr>
            <a:xfrm flipH="1">
              <a:off x="2398" y="2161"/>
              <a:ext cx="3" cy="287"/>
            </a:xfrm>
            <a:prstGeom prst="straightConnector1">
              <a:avLst/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23" name="Google Shape;523;p13"/>
            <p:cNvCxnSpPr/>
            <p:nvPr/>
          </p:nvCxnSpPr>
          <p:spPr>
            <a:xfrm>
              <a:off x="672" y="1777"/>
              <a:ext cx="1727" cy="0"/>
            </a:xfrm>
            <a:prstGeom prst="curvedConnector3">
              <a:avLst>
                <a:gd name="adj1" fmla="val 10800"/>
              </a:avLst>
            </a:prstGeom>
            <a:noFill/>
            <a:ln w="9525" cap="sq" cmpd="sng">
              <a:solidFill>
                <a:srgbClr val="53548A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pic>
        <p:nvPicPr>
          <p:cNvPr id="524" name="Google Shape;52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718050"/>
            <a:ext cx="3600450" cy="183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3"/>
          <p:cNvSpPr txBox="1"/>
          <p:nvPr/>
        </p:nvSpPr>
        <p:spPr>
          <a:xfrm>
            <a:off x="4495800" y="5105400"/>
            <a:ext cx="34290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Hamiltonian Circuit</a:t>
            </a:r>
            <a:endParaRPr/>
          </a:p>
        </p:txBody>
      </p:sp>
      <p:sp>
        <p:nvSpPr>
          <p:cNvPr id="526" name="Google Shape;526;p13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4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Algorithm </a:t>
            </a:r>
            <a:endParaRPr/>
          </a:p>
        </p:txBody>
      </p:sp>
      <p:sp>
        <p:nvSpPr>
          <p:cNvPr id="533" name="Google Shape;533;p14"/>
          <p:cNvSpPr txBox="1"/>
          <p:nvPr/>
        </p:nvSpPr>
        <p:spPr>
          <a:xfrm>
            <a:off x="76200" y="1319933"/>
            <a:ext cx="8991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4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X[1: k-1] is a path of k-1 distinct vertices if x[k]=0, then no vertex has as yet been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assigned to x[k]. After execution x[k] is assigned to the next highest number vertex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which does not already appear in x[1, k-1] &amp; is connected by an edge to x[k-1]. otherwise x[k] =0, if k=n then in addition x[k] is connected to x[1].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Algorithm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Nextvalue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(k) {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repeat {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x[k] := (x [k] + 1) mod (n + 1) //next vertex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( x[k] = 0) then return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G[x[k – 1], x[k]] ≠ 0 ) then { //Is there an edge?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for j = 1 to k – 1 do if (x[j] = x[k]) then break;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//check distinctness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( j = k) then //if true then vertex is distinct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If (( k &lt; n ) or (( k = n) and G [x[n] , x[1] ≠ 0))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	then return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}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} until ( false) ;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 dirty="0"/>
          </a:p>
        </p:txBody>
      </p:sp>
      <p:sp>
        <p:nvSpPr>
          <p:cNvPr id="544" name="Google Shape;544;p14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19</a:t>
            </a:fld>
            <a:endParaRPr/>
          </a:p>
        </p:txBody>
      </p:sp>
      <p:sp>
        <p:nvSpPr>
          <p:cNvPr id="545" name="Google Shape;545;p14"/>
          <p:cNvSpPr txBox="1"/>
          <p:nvPr/>
        </p:nvSpPr>
        <p:spPr>
          <a:xfrm>
            <a:off x="8153400" y="6248400"/>
            <a:ext cx="914400" cy="30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AFBD"/>
              </a:buClr>
              <a:buSzPts val="1400"/>
              <a:buFont typeface="Arial"/>
              <a:buNone/>
            </a:pPr>
            <a:r>
              <a:rPr lang="en-US" sz="1400" b="0" i="0" u="sng">
                <a:solidFill>
                  <a:srgbClr val="67AFB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Next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"/>
          <p:cNvSpPr txBox="1"/>
          <p:nvPr/>
        </p:nvSpPr>
        <p:spPr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Continued…</a:t>
            </a:r>
            <a:endParaRPr/>
          </a:p>
        </p:txBody>
      </p:sp>
      <p:sp>
        <p:nvSpPr>
          <p:cNvPr id="552" name="Google Shape;552;p15"/>
          <p:cNvSpPr txBox="1"/>
          <p:nvPr/>
        </p:nvSpPr>
        <p:spPr>
          <a:xfrm>
            <a:off x="152400" y="1447800"/>
            <a:ext cx="8915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4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This algorithm uses the recursive formulation of backtracking to find all the hamiltonion cycles of a graph. The graph is stored as an adjacency matrix G[1:n, 1:n]. All cycles begins at node 1.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Algorithm Hamiltonian(k)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{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repeat { 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//generate values for x[k]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</a:t>
            </a:r>
            <a:r>
              <a:rPr lang="en-US" sz="2000" b="0" i="0" u="sng">
                <a:solidFill>
                  <a:srgbClr val="67AFB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Nextvalue</a:t>
            </a: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(k); //assign a legal next value to x[k]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( x[k] = 0 ) then return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(k = n) then write ( x[1 : n]);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else Hamiltonian(k + 1);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} until(false);</a:t>
            </a:r>
            <a:endParaRPr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/>
          </a:p>
        </p:txBody>
      </p:sp>
      <p:sp>
        <p:nvSpPr>
          <p:cNvPr id="553" name="Google Shape;553;p15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</a:t>
            </a:fld>
            <a:endParaRPr/>
          </a:p>
        </p:txBody>
      </p:sp>
      <p:sp>
        <p:nvSpPr>
          <p:cNvPr id="554" name="Google Shape;554;p15"/>
          <p:cNvSpPr txBox="1"/>
          <p:nvPr/>
        </p:nvSpPr>
        <p:spPr>
          <a:xfrm>
            <a:off x="2209800" y="2743200"/>
            <a:ext cx="6629400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eorgia"/>
              <a:buNone/>
            </a:pPr>
            <a:r>
              <a:rPr lang="en-US" sz="2000" b="1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//Set x[2:n] to zero and x[1] to 1. Execute Hamiltonian(2).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"/>
          <p:cNvSpPr txBox="1"/>
          <p:nvPr/>
        </p:nvSpPr>
        <p:spPr>
          <a:xfrm>
            <a:off x="457200" y="5334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</a:t>
            </a:r>
            <a:endParaRPr/>
          </a:p>
        </p:txBody>
      </p:sp>
      <p:sp>
        <p:nvSpPr>
          <p:cNvPr id="561" name="Google Shape;561;p16"/>
          <p:cNvSpPr txBox="1"/>
          <p:nvPr/>
        </p:nvSpPr>
        <p:spPr>
          <a:xfrm>
            <a:off x="457200" y="1676400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Hamiltonian cycles in fault random geometric network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 a network, if Hamiltonian cycles exist, the fault tolerance is better.</a:t>
            </a:r>
            <a:endParaRPr/>
          </a:p>
        </p:txBody>
      </p:sp>
      <p:sp>
        <p:nvSpPr>
          <p:cNvPr id="562" name="Google Shape;562;p16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7"/>
          <p:cNvSpPr txBox="1"/>
          <p:nvPr/>
        </p:nvSpPr>
        <p:spPr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Knapsack backtracking</a:t>
            </a:r>
            <a:endParaRPr/>
          </a:p>
        </p:txBody>
      </p:sp>
      <p:sp>
        <p:nvSpPr>
          <p:cNvPr id="569" name="Google Shape;569;p17"/>
          <p:cNvSpPr txBox="1"/>
          <p:nvPr/>
        </p:nvSpPr>
        <p:spPr>
          <a:xfrm>
            <a:off x="457200" y="1371600"/>
            <a:ext cx="8229600" cy="52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We are given n objects and a knapsack or bag. The objective is to obtain a filling of the knapsack that maximizes the total profit earned.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Given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n = number of weights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w = weights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P =profits m= knapsack capacity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Using greedy approach Choosing a subset of the weights such that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Max Σ</a:t>
            </a:r>
            <a:r>
              <a:rPr lang="en-US" sz="26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1≤i ≤n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 p</a:t>
            </a:r>
            <a:r>
              <a:rPr lang="en-US" sz="26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US" sz="26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 subject to Σ</a:t>
            </a:r>
            <a:r>
              <a:rPr lang="en-US" sz="26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1≤i ≤ n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 w</a:t>
            </a:r>
            <a:r>
              <a:rPr lang="en-US" sz="26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x</a:t>
            </a:r>
            <a:r>
              <a:rPr lang="en-US" sz="2600" b="0" i="0" u="none" strike="noStrike" cap="none" baseline="-25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 ≤ m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0 ≤ x</a:t>
            </a:r>
            <a:r>
              <a:rPr lang="en-US" sz="2800" b="0" i="0" u="none" baseline="-25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≤ 1          1 ≤ i ≤ n</a:t>
            </a:r>
            <a:endParaRPr/>
          </a:p>
        </p:txBody>
      </p:sp>
      <p:sp>
        <p:nvSpPr>
          <p:cNvPr id="570" name="Google Shape;570;p17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8"/>
          <p:cNvSpPr txBox="1"/>
          <p:nvPr/>
        </p:nvSpPr>
        <p:spPr>
          <a:xfrm>
            <a:off x="457200" y="381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The backtracking method</a:t>
            </a:r>
            <a:endParaRPr/>
          </a:p>
        </p:txBody>
      </p:sp>
      <p:sp>
        <p:nvSpPr>
          <p:cNvPr id="577" name="Google Shape;577;p18"/>
          <p:cNvSpPr txBox="1"/>
          <p:nvPr/>
        </p:nvSpPr>
        <p:spPr>
          <a:xfrm>
            <a:off x="228600" y="1447800"/>
            <a:ext cx="87630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 given problem has a set of constraints and possibly an objective function.</a:t>
            </a:r>
            <a:endParaRPr/>
          </a:p>
          <a:p>
            <a:pPr marL="363537" marR="0" lvl="0" indent="-255586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solution must be feasible and it may optimize an objective function.</a:t>
            </a:r>
            <a:endParaRPr/>
          </a:p>
          <a:p>
            <a:pPr marL="363537" marR="0" lvl="0" indent="-255586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We can represent the solution space for the problem using a state space tree</a:t>
            </a:r>
            <a:endParaRPr/>
          </a:p>
          <a:p>
            <a:pPr marL="655637" marR="0" lvl="1" indent="-244474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lang="en-US" sz="2600" b="0" i="1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root of the tree represents 0 choice,</a:t>
            </a:r>
            <a:endParaRPr/>
          </a:p>
          <a:p>
            <a:pPr marL="655637" marR="0" lvl="1" indent="-244474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Nodes at depth 1 represent first choice</a:t>
            </a:r>
            <a:endParaRPr/>
          </a:p>
          <a:p>
            <a:pPr marL="655637" marR="0" lvl="1" indent="-244474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Nodes at depth 2 represent the second choice, etc.</a:t>
            </a:r>
            <a:endParaRPr/>
          </a:p>
          <a:p>
            <a:pPr marL="655637" marR="0" lvl="1" indent="-244474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In this tree a </a:t>
            </a:r>
            <a:r>
              <a:rPr lang="en-US" sz="2600" b="0" i="1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path from a root to a leaf represents a 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candidate solution</a:t>
            </a:r>
            <a:endParaRPr/>
          </a:p>
        </p:txBody>
      </p:sp>
      <p:sp>
        <p:nvSpPr>
          <p:cNvPr id="578" name="Google Shape;578;p18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9"/>
          <p:cNvSpPr txBox="1"/>
          <p:nvPr/>
        </p:nvSpPr>
        <p:spPr>
          <a:xfrm>
            <a:off x="457200" y="381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Continued…</a:t>
            </a:r>
            <a:endParaRPr/>
          </a:p>
        </p:txBody>
      </p:sp>
      <p:sp>
        <p:nvSpPr>
          <p:cNvPr id="585" name="Google Shape;585;p19"/>
          <p:cNvSpPr txBox="1"/>
          <p:nvPr/>
        </p:nvSpPr>
        <p:spPr>
          <a:xfrm>
            <a:off x="457200" y="13716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Definition: We call a node </a:t>
            </a: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nonpromising if it </a:t>
            </a: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cannot lead to a feasible (or optimal) solution, otherwise it is </a:t>
            </a: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promising.</a:t>
            </a:r>
            <a:endParaRPr/>
          </a:p>
          <a:p>
            <a:pPr marL="363537" marR="0" lvl="0" indent="-255586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1" u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363537" marR="0" lvl="0" indent="-255586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Main idea: Backtracking consists of doing a DFS of the state space tree, checking whether each node is </a:t>
            </a: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promising</a:t>
            </a: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and if the node is </a:t>
            </a: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nonpromising</a:t>
            </a: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backtracking to the node’s parent.</a:t>
            </a:r>
            <a:endParaRPr/>
          </a:p>
        </p:txBody>
      </p:sp>
      <p:sp>
        <p:nvSpPr>
          <p:cNvPr id="586" name="Google Shape;586;p19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0"/>
          <p:cNvSpPr txBox="1"/>
          <p:nvPr/>
        </p:nvSpPr>
        <p:spPr>
          <a:xfrm>
            <a:off x="152400" y="381000"/>
            <a:ext cx="8839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424456"/>
              </a:buClr>
              <a:buSzPts val="3600"/>
            </a:pPr>
            <a:r>
              <a:rPr lang="en-US" sz="3600" b="0" i="0" u="none" dirty="0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Backtracking solution to the 0/1 knapsack </a:t>
            </a:r>
            <a:r>
              <a:rPr lang="en-US" sz="3600" b="0" i="0" u="none" dirty="0" smtClean="0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</a:t>
            </a:r>
            <a:r>
              <a:rPr lang="en-US" sz="2000" b="0" i="0" u="none" dirty="0" smtClean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// initial </a:t>
            </a:r>
            <a:r>
              <a:rPr lang="en-US" sz="2000" dirty="0" err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fp</a:t>
            </a:r>
            <a:r>
              <a:rPr lang="en-US" sz="20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= -</a:t>
            </a:r>
            <a:r>
              <a:rPr lang="en-US" sz="2000" dirty="0" smtClean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1 and </a:t>
            </a:r>
            <a:r>
              <a:rPr lang="en-US" sz="2000" dirty="0" err="1" smtClean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Bknap</a:t>
            </a:r>
            <a:r>
              <a:rPr lang="en-US" sz="2000" dirty="0" smtClean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(1,0,0) )</a:t>
            </a:r>
            <a:endParaRPr sz="2000" dirty="0">
              <a:solidFill>
                <a:srgbClr val="FF0000"/>
              </a:solidFill>
            </a:endParaRPr>
          </a:p>
        </p:txBody>
      </p:sp>
      <p:sp>
        <p:nvSpPr>
          <p:cNvPr id="593" name="Google Shape;593;p20"/>
          <p:cNvSpPr txBox="1"/>
          <p:nvPr/>
        </p:nvSpPr>
        <p:spPr>
          <a:xfrm>
            <a:off x="304800" y="1447800"/>
            <a:ext cx="8610600" cy="51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4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Algorithm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Bknap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 k,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 { 		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If (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+ w[k] ≤ m) then // generate left child then { 	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y[k] := 1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( k &lt; n) then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Bknap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(k + 1,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+ p[k],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+ w[k]);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((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+ p[k] &gt;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) and (k = n) then { 	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:=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+ p[k];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:=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+ w[k];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for j := 1 to k do x[ j ] := y[ j ];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}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}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If(</a:t>
            </a:r>
            <a:r>
              <a:rPr lang="en-US" sz="1800" b="0" i="0" u="sng" dirty="0">
                <a:solidFill>
                  <a:srgbClr val="67AFB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bound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(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,k) ≥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) then //generate right child  {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y[k] := 0; if ( k &lt; n) then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Bknap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 k + 1,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);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((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&gt;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) and ( k = n )) then { 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:=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;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:= </a:t>
            </a:r>
            <a:r>
              <a:rPr lang="en-US" sz="1800" b="0" i="0" u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cw</a:t>
            </a: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;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	for j := 1 to k do x[ j ] := y[ j ]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}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}</a:t>
            </a:r>
            <a:endParaRPr dirty="0"/>
          </a:p>
          <a:p>
            <a:pPr marL="365125" marR="0" lvl="0" indent="-25400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 dirty="0"/>
          </a:p>
        </p:txBody>
      </p:sp>
      <p:sp>
        <p:nvSpPr>
          <p:cNvPr id="594" name="Google Shape;594;p20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1"/>
          <p:cNvSpPr txBox="1"/>
          <p:nvPr/>
        </p:nvSpPr>
        <p:spPr>
          <a:xfrm>
            <a:off x="457200" y="381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Continued…</a:t>
            </a:r>
            <a:endParaRPr/>
          </a:p>
        </p:txBody>
      </p:sp>
      <p:sp>
        <p:nvSpPr>
          <p:cNvPr id="601" name="Google Shape;601;p21"/>
          <p:cNvSpPr txBox="1"/>
          <p:nvPr/>
        </p:nvSpPr>
        <p:spPr>
          <a:xfrm>
            <a:off x="457200" y="1600200"/>
            <a:ext cx="8229600" cy="522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Algorithm bound( cp, cw, k)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//cp is the current profit, cw is the current wt total, k is the index of last removed item and m is the knapsack size 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{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b := cp; c := cw;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for i := k + 1 to n do {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c := c + w[i];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if ( c &lt; m) then b := b + p[i] ;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	else return b + (1 - (c - m)/ w[i]) * p[i];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}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	return b;</a:t>
            </a:r>
            <a:endParaRPr/>
          </a:p>
          <a:p>
            <a:pPr marL="365125" marR="0" lvl="0" indent="-254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/>
          </a:p>
        </p:txBody>
      </p:sp>
      <p:sp>
        <p:nvSpPr>
          <p:cNvPr id="602" name="Google Shape;602;p21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26</a:t>
            </a:fld>
            <a:endParaRPr/>
          </a:p>
        </p:txBody>
      </p:sp>
      <p:sp>
        <p:nvSpPr>
          <p:cNvPr id="603" name="Google Shape;603;p21"/>
          <p:cNvSpPr txBox="1"/>
          <p:nvPr/>
        </p:nvSpPr>
        <p:spPr>
          <a:xfrm>
            <a:off x="7772400" y="6019800"/>
            <a:ext cx="1219200" cy="30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AFBD"/>
              </a:buClr>
              <a:buSzPts val="1400"/>
              <a:buFont typeface="Arial"/>
              <a:buNone/>
            </a:pPr>
            <a:r>
              <a:rPr lang="en-US" sz="1400" b="0" i="0" u="sng">
                <a:solidFill>
                  <a:srgbClr val="67AFB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Back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2"/>
          <p:cNvSpPr txBox="1"/>
          <p:nvPr/>
        </p:nvSpPr>
        <p:spPr>
          <a:xfrm>
            <a:off x="457200" y="381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/>
          </a:p>
        </p:txBody>
      </p:sp>
      <p:sp>
        <p:nvSpPr>
          <p:cNvPr id="610" name="Google Shape;610;p22"/>
          <p:cNvSpPr txBox="1"/>
          <p:nvPr/>
        </p:nvSpPr>
        <p:spPr>
          <a:xfrm>
            <a:off x="457200" y="1295400"/>
            <a:ext cx="8229600" cy="527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Suppose </a:t>
            </a: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 = 4, W = 16, and we have the following: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1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 			pi 		wi	 	pi / wi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1 			$40 		2 		$20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2 		$30 		5 		$6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3 		$50 		10 		$5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Georgia"/>
              <a:buNone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4 		$10 		5 		$2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1" name="Google Shape;611;p22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7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3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4"/>
          <p:cNvSpPr txBox="1"/>
          <p:nvPr/>
        </p:nvSpPr>
        <p:spPr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4000"/>
              <a:buFont typeface="Trebuchet MS"/>
              <a:buNone/>
            </a:pPr>
            <a:r>
              <a:rPr lang="en-US" sz="4000" b="0" i="0" u="none">
                <a:solidFill>
                  <a:srgbClr val="424456"/>
                </a:solidFill>
                <a:latin typeface="Trebuchet MS"/>
                <a:ea typeface="Trebuchet MS"/>
                <a:cs typeface="Trebuchet MS"/>
                <a:sym typeface="Trebuchet MS"/>
              </a:rPr>
              <a:t>Worst-case time complexity</a:t>
            </a:r>
            <a:endParaRPr/>
          </a:p>
        </p:txBody>
      </p:sp>
      <p:sp>
        <p:nvSpPr>
          <p:cNvPr id="625" name="Google Shape;625;p24"/>
          <p:cNvSpPr txBox="1"/>
          <p:nvPr/>
        </p:nvSpPr>
        <p:spPr>
          <a:xfrm>
            <a:off x="457200" y="1371600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3537" marR="0" lvl="0" indent="-2555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Check number of nodes: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1 + 2 + 2</a:t>
            </a:r>
            <a:r>
              <a:rPr lang="en-US" sz="2600" b="0" i="0" u="none" strike="noStrike" cap="none" baseline="30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 + 2</a:t>
            </a:r>
            <a:r>
              <a:rPr lang="en-US" sz="2600" b="0" i="0" u="none" strike="noStrike" cap="none" baseline="30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 + … + 2</a:t>
            </a:r>
            <a:r>
              <a:rPr lang="en-US" sz="2600" b="0" i="0" u="none" strike="noStrike" cap="none" baseline="30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 = 2</a:t>
            </a:r>
            <a:r>
              <a:rPr lang="en-US" sz="2600" b="0" i="0" u="none" strike="noStrike" cap="none" baseline="30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n+1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 – 1</a:t>
            </a:r>
            <a:endParaRPr/>
          </a:p>
          <a:p>
            <a:pPr marL="363537" marR="0" lvl="0" indent="-25558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Time complexity:</a:t>
            </a:r>
            <a:endParaRPr/>
          </a:p>
          <a:p>
            <a:pPr marL="655637" marR="0" lvl="1" indent="-24447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38086"/>
              </a:buClr>
              <a:buSzPts val="2600"/>
              <a:buFont typeface="Georgia"/>
              <a:buChar char="▫"/>
            </a:pP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O(2</a:t>
            </a:r>
            <a:r>
              <a:rPr lang="en-US" sz="2600" b="0" i="0" u="none" strike="noStrike" cap="none" baseline="30000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2600" b="0" i="0" u="none" strike="noStrike" cap="none">
                <a:solidFill>
                  <a:srgbClr val="438086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/>
          </a:p>
        </p:txBody>
      </p:sp>
      <p:sp>
        <p:nvSpPr>
          <p:cNvPr id="626" name="Google Shape;626;p24"/>
          <p:cNvSpPr txBox="1"/>
          <p:nvPr/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fld id="{00000000-1234-1234-1234-123412341234}" type="slidenum">
              <a:rPr lang="en-US"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1339</Words>
  <Application>Microsoft Office PowerPoint</Application>
  <PresentationFormat>On-screen Show (4:3)</PresentationFormat>
  <Paragraphs>396</Paragraphs>
  <Slides>29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Georgia</vt:lpstr>
      <vt:lpstr>Noto Sans Symbols</vt:lpstr>
      <vt:lpstr>Times New Roman</vt:lpstr>
      <vt:lpstr>Trebuchet MS</vt:lpstr>
      <vt:lpstr>Office Theme</vt:lpstr>
      <vt:lpstr>Office Theme</vt:lpstr>
      <vt:lpstr>Office Theme</vt:lpstr>
      <vt:lpstr>Office Theme</vt:lpstr>
      <vt:lpstr>PowerPoint Presentation</vt:lpstr>
      <vt:lpstr>Unit 4: Backtracking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 staff</dc:creator>
  <cp:lastModifiedBy>Himangi Pande</cp:lastModifiedBy>
  <cp:revision>10</cp:revision>
  <dcterms:created xsi:type="dcterms:W3CDTF">2013-03-11T09:50:40Z</dcterms:created>
  <dcterms:modified xsi:type="dcterms:W3CDTF">2024-12-26T06:46:02Z</dcterms:modified>
</cp:coreProperties>
</file>